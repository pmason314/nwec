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7" d="100"/>
          <a:sy n="107" d="100"/>
        </p:scale>
        <p:origin x="714" y="114"/>
      </p:cViewPr>
      <p:guideLst>
        <p:guide pos="3840"/>
        <p:guide pos="2160" orient="horz"/>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tableStyles" Target="tableStyles.xml"/><Relationship Id="rId2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6921221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5829857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E4AD6D7-3E69-CD4C-BF84-DD6FA33DABB1}" type="datetimeFigureOut">
              <a:rPr lang="en-US"/>
              <a:t>10/3/2025</a:t>
            </a:fld>
            <a:endParaRPr lang="en-US"/>
          </a:p>
        </p:txBody>
      </p:sp>
      <p:sp>
        <p:nvSpPr>
          <p:cNvPr id="84025834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80685874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233472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065725286"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06899696-B627-9940-BA12-1A1826FE138C}"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3818654" name="Slide Image Placeholder 1"/>
          <p:cNvSpPr>
            <a:spLocks noChangeAspect="1" noGrp="1" noRot="1"/>
          </p:cNvSpPr>
          <p:nvPr>
            <p:ph type="sldImg"/>
          </p:nvPr>
        </p:nvSpPr>
        <p:spPr bwMode="auto"/>
      </p:sp>
      <p:sp>
        <p:nvSpPr>
          <p:cNvPr id="442833668" name="Notes Placeholder 2"/>
          <p:cNvSpPr>
            <a:spLocks noGrp="1"/>
          </p:cNvSpPr>
          <p:nvPr>
            <p:ph type="body" idx="1"/>
          </p:nvPr>
        </p:nvSpPr>
        <p:spPr bwMode="auto"/>
        <p:txBody>
          <a:bodyPr/>
          <a:lstStyle/>
          <a:p>
            <a:pPr>
              <a:defRPr/>
            </a:pPr>
            <a:endParaRPr/>
          </a:p>
        </p:txBody>
      </p:sp>
      <p:sp>
        <p:nvSpPr>
          <p:cNvPr id="278852803" name="Slide Number Placeholder 3"/>
          <p:cNvSpPr>
            <a:spLocks noGrp="1"/>
          </p:cNvSpPr>
          <p:nvPr>
            <p:ph type="sldNum" sz="quarter" idx="10"/>
          </p:nvPr>
        </p:nvSpPr>
        <p:spPr bwMode="auto"/>
        <p:txBody>
          <a:bodyPr/>
          <a:lstStyle/>
          <a:p>
            <a:pPr>
              <a:defRPr/>
            </a:pPr>
            <a:fld id="{E2A80F27-6F1A-9692-EADC-457ED87BEE72}"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1673542" name="Slide Image Placeholder 1"/>
          <p:cNvSpPr>
            <a:spLocks noChangeAspect="1" noGrp="1" noRot="1"/>
          </p:cNvSpPr>
          <p:nvPr>
            <p:ph type="sldImg"/>
          </p:nvPr>
        </p:nvSpPr>
        <p:spPr bwMode="auto"/>
      </p:sp>
      <p:sp>
        <p:nvSpPr>
          <p:cNvPr id="293494567" name="Notes Placeholder 2"/>
          <p:cNvSpPr>
            <a:spLocks noGrp="1"/>
          </p:cNvSpPr>
          <p:nvPr>
            <p:ph type="body" idx="1"/>
          </p:nvPr>
        </p:nvSpPr>
        <p:spPr bwMode="auto"/>
        <p:txBody>
          <a:bodyPr/>
          <a:lstStyle/>
          <a:p>
            <a:pPr>
              <a:defRPr/>
            </a:pPr>
            <a:endParaRPr/>
          </a:p>
        </p:txBody>
      </p:sp>
      <p:sp>
        <p:nvSpPr>
          <p:cNvPr id="694698438" name="Slide Number Placeholder 3"/>
          <p:cNvSpPr>
            <a:spLocks noGrp="1"/>
          </p:cNvSpPr>
          <p:nvPr>
            <p:ph type="sldNum" sz="quarter" idx="10"/>
          </p:nvPr>
        </p:nvSpPr>
        <p:spPr bwMode="auto"/>
        <p:txBody>
          <a:bodyPr/>
          <a:lstStyle/>
          <a:p>
            <a:pPr>
              <a:defRPr/>
            </a:pPr>
            <a:fld id="{12147F75-4F88-D670-65C3-02BD38FD9BD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3044987" name="Slide Image Placeholder 1"/>
          <p:cNvSpPr>
            <a:spLocks noChangeAspect="1" noGrp="1" noRot="1"/>
          </p:cNvSpPr>
          <p:nvPr>
            <p:ph type="sldImg"/>
          </p:nvPr>
        </p:nvSpPr>
        <p:spPr bwMode="auto"/>
      </p:sp>
      <p:sp>
        <p:nvSpPr>
          <p:cNvPr id="111259673" name="Notes Placeholder 2"/>
          <p:cNvSpPr>
            <a:spLocks noGrp="1"/>
          </p:cNvSpPr>
          <p:nvPr>
            <p:ph type="body" idx="1"/>
          </p:nvPr>
        </p:nvSpPr>
        <p:spPr bwMode="auto"/>
        <p:txBody>
          <a:bodyPr/>
          <a:lstStyle/>
          <a:p>
            <a:pPr>
              <a:defRPr/>
            </a:pPr>
            <a:endParaRPr/>
          </a:p>
        </p:txBody>
      </p:sp>
      <p:sp>
        <p:nvSpPr>
          <p:cNvPr id="234327984" name="Slide Number Placeholder 3"/>
          <p:cNvSpPr>
            <a:spLocks noGrp="1"/>
          </p:cNvSpPr>
          <p:nvPr>
            <p:ph type="sldNum" sz="quarter" idx="10"/>
          </p:nvPr>
        </p:nvSpPr>
        <p:spPr bwMode="auto"/>
        <p:txBody>
          <a:bodyPr/>
          <a:lstStyle/>
          <a:p>
            <a:pPr>
              <a:defRPr/>
            </a:pPr>
            <a:fld id="{1BB464C6-3396-F07A-DAC6-B2DDDE85AC1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9188550" name="Slide Image Placeholder 1"/>
          <p:cNvSpPr>
            <a:spLocks noChangeAspect="1" noGrp="1" noRot="1"/>
          </p:cNvSpPr>
          <p:nvPr>
            <p:ph type="sldImg"/>
          </p:nvPr>
        </p:nvSpPr>
        <p:spPr bwMode="auto"/>
      </p:sp>
      <p:sp>
        <p:nvSpPr>
          <p:cNvPr id="256141640" name="Notes Placeholder 2"/>
          <p:cNvSpPr>
            <a:spLocks noGrp="1"/>
          </p:cNvSpPr>
          <p:nvPr>
            <p:ph type="body" idx="1"/>
          </p:nvPr>
        </p:nvSpPr>
        <p:spPr bwMode="auto"/>
        <p:txBody>
          <a:bodyPr/>
          <a:lstStyle/>
          <a:p>
            <a:pPr>
              <a:defRPr/>
            </a:pPr>
            <a:endParaRPr/>
          </a:p>
        </p:txBody>
      </p:sp>
      <p:sp>
        <p:nvSpPr>
          <p:cNvPr id="1395103804" name="Slide Number Placeholder 3"/>
          <p:cNvSpPr>
            <a:spLocks noGrp="1"/>
          </p:cNvSpPr>
          <p:nvPr>
            <p:ph type="sldNum" sz="quarter" idx="10"/>
          </p:nvPr>
        </p:nvSpPr>
        <p:spPr bwMode="auto"/>
        <p:txBody>
          <a:bodyPr/>
          <a:lstStyle/>
          <a:p>
            <a:pPr>
              <a:defRPr/>
            </a:pPr>
            <a:fld id="{A0A4C213-1BB7-6015-7AF8-2AA9AEAFDBA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6070266" name="Slide Image Placeholder 1"/>
          <p:cNvSpPr>
            <a:spLocks noChangeAspect="1" noGrp="1" noRot="1"/>
          </p:cNvSpPr>
          <p:nvPr>
            <p:ph type="sldImg"/>
          </p:nvPr>
        </p:nvSpPr>
        <p:spPr bwMode="auto"/>
      </p:sp>
      <p:sp>
        <p:nvSpPr>
          <p:cNvPr id="90571872" name="Notes Placeholder 2"/>
          <p:cNvSpPr>
            <a:spLocks noGrp="1"/>
          </p:cNvSpPr>
          <p:nvPr>
            <p:ph type="body" idx="1"/>
          </p:nvPr>
        </p:nvSpPr>
        <p:spPr bwMode="auto"/>
        <p:txBody>
          <a:bodyPr/>
          <a:lstStyle/>
          <a:p>
            <a:pPr>
              <a:defRPr/>
            </a:pPr>
            <a:endParaRPr/>
          </a:p>
        </p:txBody>
      </p:sp>
      <p:sp>
        <p:nvSpPr>
          <p:cNvPr id="1356215852" name="Slide Number Placeholder 3"/>
          <p:cNvSpPr>
            <a:spLocks noGrp="1"/>
          </p:cNvSpPr>
          <p:nvPr>
            <p:ph type="sldNum" sz="quarter" idx="10"/>
          </p:nvPr>
        </p:nvSpPr>
        <p:spPr bwMode="auto"/>
        <p:txBody>
          <a:bodyPr/>
          <a:lstStyle/>
          <a:p>
            <a:pPr>
              <a:defRPr/>
            </a:pPr>
            <a:fld id="{9A7F8626-9D41-B0A6-A924-F968DAB4B503}"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9109897" name="Slide Image Placeholder 1"/>
          <p:cNvSpPr>
            <a:spLocks noChangeAspect="1" noGrp="1" noRot="1"/>
          </p:cNvSpPr>
          <p:nvPr>
            <p:ph type="sldImg"/>
          </p:nvPr>
        </p:nvSpPr>
        <p:spPr bwMode="auto"/>
      </p:sp>
      <p:sp>
        <p:nvSpPr>
          <p:cNvPr id="1630118032" name="Notes Placeholder 2"/>
          <p:cNvSpPr>
            <a:spLocks noGrp="1"/>
          </p:cNvSpPr>
          <p:nvPr>
            <p:ph type="body" idx="1"/>
          </p:nvPr>
        </p:nvSpPr>
        <p:spPr bwMode="auto"/>
        <p:txBody>
          <a:bodyPr/>
          <a:lstStyle/>
          <a:p>
            <a:pPr>
              <a:defRPr/>
            </a:pPr>
            <a:endParaRPr/>
          </a:p>
        </p:txBody>
      </p:sp>
      <p:sp>
        <p:nvSpPr>
          <p:cNvPr id="711051287" name="Slide Number Placeholder 3"/>
          <p:cNvSpPr>
            <a:spLocks noGrp="1"/>
          </p:cNvSpPr>
          <p:nvPr>
            <p:ph type="sldNum" sz="quarter" idx="10"/>
          </p:nvPr>
        </p:nvSpPr>
        <p:spPr bwMode="auto"/>
        <p:txBody>
          <a:bodyPr/>
          <a:lstStyle/>
          <a:p>
            <a:pPr>
              <a:defRPr/>
            </a:pPr>
            <a:fld id="{0668FBD3-4C35-5B81-6003-DA9565B7776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3435766" name="Slide Image Placeholder 1"/>
          <p:cNvSpPr>
            <a:spLocks noChangeAspect="1" noGrp="1" noRot="1"/>
          </p:cNvSpPr>
          <p:nvPr>
            <p:ph type="sldImg"/>
          </p:nvPr>
        </p:nvSpPr>
        <p:spPr bwMode="auto"/>
      </p:sp>
      <p:sp>
        <p:nvSpPr>
          <p:cNvPr id="1075370002" name="Notes Placeholder 2"/>
          <p:cNvSpPr>
            <a:spLocks noGrp="1"/>
          </p:cNvSpPr>
          <p:nvPr>
            <p:ph type="body" idx="1"/>
          </p:nvPr>
        </p:nvSpPr>
        <p:spPr bwMode="auto"/>
        <p:txBody>
          <a:bodyPr/>
          <a:lstStyle/>
          <a:p>
            <a:pPr>
              <a:defRPr/>
            </a:pPr>
            <a:endParaRPr/>
          </a:p>
        </p:txBody>
      </p:sp>
      <p:sp>
        <p:nvSpPr>
          <p:cNvPr id="449256693" name="Slide Number Placeholder 3"/>
          <p:cNvSpPr>
            <a:spLocks noGrp="1"/>
          </p:cNvSpPr>
          <p:nvPr>
            <p:ph type="sldNum" sz="quarter" idx="10"/>
          </p:nvPr>
        </p:nvSpPr>
        <p:spPr bwMode="auto"/>
        <p:txBody>
          <a:bodyPr/>
          <a:lstStyle/>
          <a:p>
            <a:pPr>
              <a:defRPr/>
            </a:pPr>
            <a:fld id="{428518B9-3CDC-D6B1-65CF-996D5243E78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2872622" name="Slide Image Placeholder 1"/>
          <p:cNvSpPr>
            <a:spLocks noChangeAspect="1" noGrp="1" noRot="1"/>
          </p:cNvSpPr>
          <p:nvPr>
            <p:ph type="sldImg"/>
          </p:nvPr>
        </p:nvSpPr>
        <p:spPr bwMode="auto"/>
      </p:sp>
      <p:sp>
        <p:nvSpPr>
          <p:cNvPr id="1638476318" name="Notes Placeholder 2"/>
          <p:cNvSpPr>
            <a:spLocks noGrp="1"/>
          </p:cNvSpPr>
          <p:nvPr>
            <p:ph type="body" idx="1"/>
          </p:nvPr>
        </p:nvSpPr>
        <p:spPr bwMode="auto"/>
        <p:txBody>
          <a:bodyPr/>
          <a:lstStyle/>
          <a:p>
            <a:pPr>
              <a:defRPr/>
            </a:pPr>
            <a:endParaRPr/>
          </a:p>
        </p:txBody>
      </p:sp>
      <p:sp>
        <p:nvSpPr>
          <p:cNvPr id="31868835" name="Slide Number Placeholder 3"/>
          <p:cNvSpPr>
            <a:spLocks noGrp="1"/>
          </p:cNvSpPr>
          <p:nvPr>
            <p:ph type="sldNum" sz="quarter" idx="10"/>
          </p:nvPr>
        </p:nvSpPr>
        <p:spPr bwMode="auto"/>
        <p:txBody>
          <a:bodyPr/>
          <a:lstStyle/>
          <a:p>
            <a:pPr>
              <a:defRPr/>
            </a:pPr>
            <a:fld id="{8A0296B4-4866-2B95-DE7D-22DA1D7F6775}"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8932376" name="Slide Image Placeholder 1"/>
          <p:cNvSpPr>
            <a:spLocks noChangeAspect="1" noGrp="1" noRot="1"/>
          </p:cNvSpPr>
          <p:nvPr>
            <p:ph type="sldImg"/>
          </p:nvPr>
        </p:nvSpPr>
        <p:spPr bwMode="auto"/>
      </p:sp>
      <p:sp>
        <p:nvSpPr>
          <p:cNvPr id="495035639" name="Notes Placeholder 2"/>
          <p:cNvSpPr>
            <a:spLocks noGrp="1"/>
          </p:cNvSpPr>
          <p:nvPr>
            <p:ph type="body" idx="1"/>
          </p:nvPr>
        </p:nvSpPr>
        <p:spPr bwMode="auto"/>
        <p:txBody>
          <a:bodyPr/>
          <a:lstStyle/>
          <a:p>
            <a:pPr>
              <a:defRPr/>
            </a:pPr>
            <a:endParaRPr/>
          </a:p>
        </p:txBody>
      </p:sp>
      <p:sp>
        <p:nvSpPr>
          <p:cNvPr id="486478839" name="Slide Number Placeholder 3"/>
          <p:cNvSpPr>
            <a:spLocks noGrp="1"/>
          </p:cNvSpPr>
          <p:nvPr>
            <p:ph type="sldNum" sz="quarter" idx="10"/>
          </p:nvPr>
        </p:nvSpPr>
        <p:spPr bwMode="auto"/>
        <p:txBody>
          <a:bodyPr/>
          <a:lstStyle/>
          <a:p>
            <a:pPr>
              <a:defRPr/>
            </a:pPr>
            <a:fld id="{9D939C00-B8BF-D2DD-AA26-062C05815477}"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9396300" name="Slide Image Placeholder 1"/>
          <p:cNvSpPr>
            <a:spLocks noChangeAspect="1" noGrp="1" noRot="1"/>
          </p:cNvSpPr>
          <p:nvPr>
            <p:ph type="sldImg"/>
          </p:nvPr>
        </p:nvSpPr>
        <p:spPr bwMode="auto"/>
      </p:sp>
      <p:sp>
        <p:nvSpPr>
          <p:cNvPr id="2000738655" name="Notes Placeholder 2"/>
          <p:cNvSpPr>
            <a:spLocks noGrp="1"/>
          </p:cNvSpPr>
          <p:nvPr>
            <p:ph type="body" idx="1"/>
          </p:nvPr>
        </p:nvSpPr>
        <p:spPr bwMode="auto"/>
        <p:txBody>
          <a:bodyPr/>
          <a:lstStyle/>
          <a:p>
            <a:pPr>
              <a:defRPr/>
            </a:pPr>
            <a:endParaRPr/>
          </a:p>
        </p:txBody>
      </p:sp>
      <p:sp>
        <p:nvSpPr>
          <p:cNvPr id="1880270304" name="Slide Number Placeholder 3"/>
          <p:cNvSpPr>
            <a:spLocks noGrp="1"/>
          </p:cNvSpPr>
          <p:nvPr>
            <p:ph type="sldNum" sz="quarter" idx="10"/>
          </p:nvPr>
        </p:nvSpPr>
        <p:spPr bwMode="auto"/>
        <p:txBody>
          <a:bodyPr/>
          <a:lstStyle/>
          <a:p>
            <a:pPr>
              <a:defRPr/>
            </a:pPr>
            <a:fld id="{785815C2-D62A-1D84-3099-01C8AF80886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5395542" name="Slide Image Placeholder 1"/>
          <p:cNvSpPr>
            <a:spLocks noChangeAspect="1" noGrp="1" noRot="1"/>
          </p:cNvSpPr>
          <p:nvPr>
            <p:ph type="sldImg"/>
          </p:nvPr>
        </p:nvSpPr>
        <p:spPr bwMode="auto"/>
      </p:sp>
      <p:sp>
        <p:nvSpPr>
          <p:cNvPr id="138235621" name="Notes Placeholder 2"/>
          <p:cNvSpPr>
            <a:spLocks noGrp="1"/>
          </p:cNvSpPr>
          <p:nvPr>
            <p:ph type="body" idx="1"/>
          </p:nvPr>
        </p:nvSpPr>
        <p:spPr bwMode="auto"/>
        <p:txBody>
          <a:bodyPr/>
          <a:lstStyle/>
          <a:p>
            <a:pPr>
              <a:defRPr/>
            </a:pPr>
            <a:endParaRPr/>
          </a:p>
        </p:txBody>
      </p:sp>
      <p:sp>
        <p:nvSpPr>
          <p:cNvPr id="1680421019" name="Slide Number Placeholder 3"/>
          <p:cNvSpPr>
            <a:spLocks noGrp="1"/>
          </p:cNvSpPr>
          <p:nvPr>
            <p:ph type="sldNum" sz="quarter" idx="10"/>
          </p:nvPr>
        </p:nvSpPr>
        <p:spPr bwMode="auto"/>
        <p:txBody>
          <a:bodyPr/>
          <a:lstStyle/>
          <a:p>
            <a:pPr>
              <a:defRPr/>
            </a:pPr>
            <a:fld id="{16EEC812-2978-18A5-4E5E-9B9E28500FEA}"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0826809" name="Slide Image Placeholder 1"/>
          <p:cNvSpPr>
            <a:spLocks noChangeAspect="1" noGrp="1" noRot="1"/>
          </p:cNvSpPr>
          <p:nvPr>
            <p:ph type="sldImg"/>
          </p:nvPr>
        </p:nvSpPr>
        <p:spPr bwMode="auto"/>
      </p:sp>
      <p:sp>
        <p:nvSpPr>
          <p:cNvPr id="327965772" name="Notes Placeholder 2"/>
          <p:cNvSpPr>
            <a:spLocks noGrp="1"/>
          </p:cNvSpPr>
          <p:nvPr>
            <p:ph type="body" idx="1"/>
          </p:nvPr>
        </p:nvSpPr>
        <p:spPr bwMode="auto"/>
        <p:txBody>
          <a:bodyPr/>
          <a:lstStyle/>
          <a:p>
            <a:pPr>
              <a:defRPr/>
            </a:pPr>
            <a:endParaRPr/>
          </a:p>
        </p:txBody>
      </p:sp>
      <p:sp>
        <p:nvSpPr>
          <p:cNvPr id="447895976" name="Slide Number Placeholder 3"/>
          <p:cNvSpPr>
            <a:spLocks noGrp="1"/>
          </p:cNvSpPr>
          <p:nvPr>
            <p:ph type="sldNum" sz="quarter" idx="10"/>
          </p:nvPr>
        </p:nvSpPr>
        <p:spPr bwMode="auto"/>
        <p:txBody>
          <a:bodyPr/>
          <a:lstStyle/>
          <a:p>
            <a:pPr>
              <a:defRPr/>
            </a:pPr>
            <a:fld id="{DFA8878D-512D-8001-585A-6234C8E17BF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0515744" name="Slide Image Placeholder 1"/>
          <p:cNvSpPr>
            <a:spLocks noChangeAspect="1" noGrp="1" noRot="1"/>
          </p:cNvSpPr>
          <p:nvPr>
            <p:ph type="sldImg"/>
          </p:nvPr>
        </p:nvSpPr>
        <p:spPr bwMode="auto"/>
      </p:sp>
      <p:sp>
        <p:nvSpPr>
          <p:cNvPr id="299916788" name="Notes Placeholder 2"/>
          <p:cNvSpPr>
            <a:spLocks noGrp="1"/>
          </p:cNvSpPr>
          <p:nvPr>
            <p:ph type="body" idx="1"/>
          </p:nvPr>
        </p:nvSpPr>
        <p:spPr bwMode="auto"/>
        <p:txBody>
          <a:bodyPr/>
          <a:lstStyle/>
          <a:p>
            <a:pPr>
              <a:defRPr/>
            </a:pPr>
            <a:endParaRPr/>
          </a:p>
        </p:txBody>
      </p:sp>
      <p:sp>
        <p:nvSpPr>
          <p:cNvPr id="809017436" name="Slide Number Placeholder 3"/>
          <p:cNvSpPr>
            <a:spLocks noGrp="1"/>
          </p:cNvSpPr>
          <p:nvPr>
            <p:ph type="sldNum" sz="quarter" idx="10"/>
          </p:nvPr>
        </p:nvSpPr>
        <p:spPr bwMode="auto"/>
        <p:txBody>
          <a:bodyPr/>
          <a:lstStyle/>
          <a:p>
            <a:pPr>
              <a:defRPr/>
            </a:pPr>
            <a:fld id="{F08F1477-10A0-97FE-0AA5-E2B3AB4F7C0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3427198" name="Slide Image Placeholder 1"/>
          <p:cNvSpPr>
            <a:spLocks noChangeAspect="1" noGrp="1" noRot="1"/>
          </p:cNvSpPr>
          <p:nvPr>
            <p:ph type="sldImg"/>
          </p:nvPr>
        </p:nvSpPr>
        <p:spPr bwMode="auto"/>
      </p:sp>
      <p:sp>
        <p:nvSpPr>
          <p:cNvPr id="1780527406" name="Notes Placeholder 2"/>
          <p:cNvSpPr>
            <a:spLocks noGrp="1"/>
          </p:cNvSpPr>
          <p:nvPr>
            <p:ph type="body" idx="1"/>
          </p:nvPr>
        </p:nvSpPr>
        <p:spPr bwMode="auto"/>
        <p:txBody>
          <a:bodyPr/>
          <a:lstStyle/>
          <a:p>
            <a:pPr>
              <a:defRPr/>
            </a:pPr>
            <a:endParaRPr/>
          </a:p>
        </p:txBody>
      </p:sp>
      <p:sp>
        <p:nvSpPr>
          <p:cNvPr id="1551331375" name="Slide Number Placeholder 3"/>
          <p:cNvSpPr>
            <a:spLocks noGrp="1"/>
          </p:cNvSpPr>
          <p:nvPr>
            <p:ph type="sldNum" sz="quarter" idx="10"/>
          </p:nvPr>
        </p:nvSpPr>
        <p:spPr bwMode="auto"/>
        <p:txBody>
          <a:bodyPr/>
          <a:lstStyle/>
          <a:p>
            <a:pPr>
              <a:defRPr/>
            </a:pPr>
            <a:fld id="{8719A167-D667-629B-44D1-D71D849BB83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4684110" name="Slide Image Placeholder 1"/>
          <p:cNvSpPr>
            <a:spLocks noChangeAspect="1" noGrp="1" noRot="1"/>
          </p:cNvSpPr>
          <p:nvPr>
            <p:ph type="sldImg"/>
          </p:nvPr>
        </p:nvSpPr>
        <p:spPr bwMode="auto"/>
      </p:sp>
      <p:sp>
        <p:nvSpPr>
          <p:cNvPr id="1983207577" name="Notes Placeholder 2"/>
          <p:cNvSpPr>
            <a:spLocks noGrp="1"/>
          </p:cNvSpPr>
          <p:nvPr>
            <p:ph type="body" idx="1"/>
          </p:nvPr>
        </p:nvSpPr>
        <p:spPr bwMode="auto"/>
        <p:txBody>
          <a:bodyPr/>
          <a:lstStyle/>
          <a:p>
            <a:pPr>
              <a:defRPr/>
            </a:pPr>
            <a:endParaRPr/>
          </a:p>
        </p:txBody>
      </p:sp>
      <p:sp>
        <p:nvSpPr>
          <p:cNvPr id="1792820533" name="Slide Number Placeholder 3"/>
          <p:cNvSpPr>
            <a:spLocks noGrp="1"/>
          </p:cNvSpPr>
          <p:nvPr>
            <p:ph type="sldNum" sz="quarter" idx="10"/>
          </p:nvPr>
        </p:nvSpPr>
        <p:spPr bwMode="auto"/>
        <p:txBody>
          <a:bodyPr/>
          <a:lstStyle/>
          <a:p>
            <a:pPr>
              <a:defRPr/>
            </a:pPr>
            <a:fld id="{CC3A53A5-4E89-265B-B68C-709B5869FB4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5321928" name="Slide Image Placeholder 1"/>
          <p:cNvSpPr>
            <a:spLocks noChangeAspect="1" noGrp="1" noRot="1"/>
          </p:cNvSpPr>
          <p:nvPr>
            <p:ph type="sldImg"/>
          </p:nvPr>
        </p:nvSpPr>
        <p:spPr bwMode="auto"/>
      </p:sp>
      <p:sp>
        <p:nvSpPr>
          <p:cNvPr id="1339118873" name="Notes Placeholder 2"/>
          <p:cNvSpPr>
            <a:spLocks noGrp="1"/>
          </p:cNvSpPr>
          <p:nvPr>
            <p:ph type="body" idx="1"/>
          </p:nvPr>
        </p:nvSpPr>
        <p:spPr bwMode="auto"/>
        <p:txBody>
          <a:bodyPr/>
          <a:lstStyle/>
          <a:p>
            <a:pPr>
              <a:defRPr/>
            </a:pPr>
            <a:endParaRPr/>
          </a:p>
        </p:txBody>
      </p:sp>
      <p:sp>
        <p:nvSpPr>
          <p:cNvPr id="1877380827" name="Slide Number Placeholder 3"/>
          <p:cNvSpPr>
            <a:spLocks noGrp="1"/>
          </p:cNvSpPr>
          <p:nvPr>
            <p:ph type="sldNum" sz="quarter" idx="10"/>
          </p:nvPr>
        </p:nvSpPr>
        <p:spPr bwMode="auto"/>
        <p:txBody>
          <a:bodyPr/>
          <a:lstStyle/>
          <a:p>
            <a:pPr>
              <a:defRPr/>
            </a:pPr>
            <a:fld id="{AE616BC1-9617-F728-DD7E-D50FFED2B053}"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1705198" name="Slide Image Placeholder 1"/>
          <p:cNvSpPr>
            <a:spLocks noChangeAspect="1" noGrp="1" noRot="1"/>
          </p:cNvSpPr>
          <p:nvPr>
            <p:ph type="sldImg"/>
          </p:nvPr>
        </p:nvSpPr>
        <p:spPr bwMode="auto"/>
      </p:sp>
      <p:sp>
        <p:nvSpPr>
          <p:cNvPr id="1877792647" name="Notes Placeholder 2"/>
          <p:cNvSpPr>
            <a:spLocks noGrp="1"/>
          </p:cNvSpPr>
          <p:nvPr>
            <p:ph type="body" idx="1"/>
          </p:nvPr>
        </p:nvSpPr>
        <p:spPr bwMode="auto"/>
        <p:txBody>
          <a:bodyPr/>
          <a:lstStyle/>
          <a:p>
            <a:pPr>
              <a:defRPr/>
            </a:pPr>
            <a:endParaRPr/>
          </a:p>
        </p:txBody>
      </p:sp>
      <p:sp>
        <p:nvSpPr>
          <p:cNvPr id="498313195" name="Slide Number Placeholder 3"/>
          <p:cNvSpPr>
            <a:spLocks noGrp="1"/>
          </p:cNvSpPr>
          <p:nvPr>
            <p:ph type="sldNum" sz="quarter" idx="10"/>
          </p:nvPr>
        </p:nvSpPr>
        <p:spPr bwMode="auto"/>
        <p:txBody>
          <a:bodyPr/>
          <a:lstStyle/>
          <a:p>
            <a:pPr>
              <a:defRPr/>
            </a:pPr>
            <a:fld id="{A63197EC-FF08-DC07-5334-E9A4825A2AA6}"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15709" name="Slide Image Placeholder 1"/>
          <p:cNvSpPr>
            <a:spLocks noChangeAspect="1" noGrp="1" noRot="1"/>
          </p:cNvSpPr>
          <p:nvPr>
            <p:ph type="sldImg"/>
          </p:nvPr>
        </p:nvSpPr>
        <p:spPr bwMode="auto"/>
      </p:sp>
      <p:sp>
        <p:nvSpPr>
          <p:cNvPr id="581534368" name="Notes Placeholder 2"/>
          <p:cNvSpPr>
            <a:spLocks noGrp="1"/>
          </p:cNvSpPr>
          <p:nvPr>
            <p:ph type="body" idx="1"/>
          </p:nvPr>
        </p:nvSpPr>
        <p:spPr bwMode="auto"/>
        <p:txBody>
          <a:bodyPr/>
          <a:lstStyle/>
          <a:p>
            <a:pPr>
              <a:defRPr/>
            </a:pPr>
            <a:endParaRPr/>
          </a:p>
        </p:txBody>
      </p:sp>
      <p:sp>
        <p:nvSpPr>
          <p:cNvPr id="27170978" name="Slide Number Placeholder 3"/>
          <p:cNvSpPr>
            <a:spLocks noGrp="1"/>
          </p:cNvSpPr>
          <p:nvPr>
            <p:ph type="sldNum" sz="quarter" idx="10"/>
          </p:nvPr>
        </p:nvSpPr>
        <p:spPr bwMode="auto"/>
        <p:txBody>
          <a:bodyPr/>
          <a:lstStyle/>
          <a:p>
            <a:pPr>
              <a:defRPr/>
            </a:pPr>
            <a:fld id="{66104377-A296-3CBB-D7E5-5957070E71C6}"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9261546" name="Slide Image Placeholder 1"/>
          <p:cNvSpPr>
            <a:spLocks noChangeAspect="1" noGrp="1" noRot="1"/>
          </p:cNvSpPr>
          <p:nvPr>
            <p:ph type="sldImg"/>
          </p:nvPr>
        </p:nvSpPr>
        <p:spPr bwMode="auto"/>
      </p:sp>
      <p:sp>
        <p:nvSpPr>
          <p:cNvPr id="55570856" name="Notes Placeholder 2"/>
          <p:cNvSpPr>
            <a:spLocks noGrp="1"/>
          </p:cNvSpPr>
          <p:nvPr>
            <p:ph type="body" idx="1"/>
          </p:nvPr>
        </p:nvSpPr>
        <p:spPr bwMode="auto"/>
        <p:txBody>
          <a:bodyPr/>
          <a:lstStyle/>
          <a:p>
            <a:pPr>
              <a:defRPr/>
            </a:pPr>
            <a:endParaRPr/>
          </a:p>
        </p:txBody>
      </p:sp>
      <p:sp>
        <p:nvSpPr>
          <p:cNvPr id="2083777559" name="Slide Number Placeholder 3"/>
          <p:cNvSpPr>
            <a:spLocks noGrp="1"/>
          </p:cNvSpPr>
          <p:nvPr>
            <p:ph type="sldNum" sz="quarter" idx="10"/>
          </p:nvPr>
        </p:nvSpPr>
        <p:spPr bwMode="auto"/>
        <p:txBody>
          <a:bodyPr/>
          <a:lstStyle/>
          <a:p>
            <a:pPr>
              <a:defRPr/>
            </a:pPr>
            <a:fld id="{231D43F2-543F-A11D-62D0-E8A681350D23}"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675133" name="Slide Image Placeholder 1"/>
          <p:cNvSpPr>
            <a:spLocks noChangeAspect="1" noGrp="1" noRot="1"/>
          </p:cNvSpPr>
          <p:nvPr>
            <p:ph type="sldImg"/>
          </p:nvPr>
        </p:nvSpPr>
        <p:spPr bwMode="auto"/>
      </p:sp>
      <p:sp>
        <p:nvSpPr>
          <p:cNvPr id="1226111352" name="Notes Placeholder 2"/>
          <p:cNvSpPr>
            <a:spLocks noGrp="1"/>
          </p:cNvSpPr>
          <p:nvPr>
            <p:ph type="body" idx="1"/>
          </p:nvPr>
        </p:nvSpPr>
        <p:spPr bwMode="auto"/>
        <p:txBody>
          <a:bodyPr/>
          <a:lstStyle/>
          <a:p>
            <a:pPr>
              <a:defRPr/>
            </a:pPr>
            <a:r>
              <a:rPr lang="en-US"/>
              <a:t>Insert visuals from the ”credit collection” tab</a:t>
            </a:r>
            <a:endParaRPr/>
          </a:p>
        </p:txBody>
      </p:sp>
      <p:sp>
        <p:nvSpPr>
          <p:cNvPr id="1982039702" name="Slide Number Placeholder 3"/>
          <p:cNvSpPr>
            <a:spLocks noGrp="1"/>
          </p:cNvSpPr>
          <p:nvPr>
            <p:ph type="sldNum" sz="quarter" idx="5"/>
          </p:nvPr>
        </p:nvSpPr>
        <p:spPr bwMode="auto"/>
        <p:txBody>
          <a:bodyPr/>
          <a:lstStyle/>
          <a:p>
            <a:pPr>
              <a:defRPr/>
            </a:pPr>
            <a:fld id="{06899696-B627-9940-BA12-1A1826FE138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6175078" name="Slide Image Placeholder 1"/>
          <p:cNvSpPr>
            <a:spLocks noChangeAspect="1" noGrp="1" noRot="1"/>
          </p:cNvSpPr>
          <p:nvPr>
            <p:ph type="sldImg"/>
          </p:nvPr>
        </p:nvSpPr>
        <p:spPr bwMode="auto"/>
      </p:sp>
      <p:sp>
        <p:nvSpPr>
          <p:cNvPr id="353404172" name="Notes Placeholder 2"/>
          <p:cNvSpPr>
            <a:spLocks noGrp="1"/>
          </p:cNvSpPr>
          <p:nvPr>
            <p:ph type="body" idx="1"/>
          </p:nvPr>
        </p:nvSpPr>
        <p:spPr bwMode="auto"/>
        <p:txBody>
          <a:bodyPr/>
          <a:lstStyle/>
          <a:p>
            <a:pPr>
              <a:defRPr/>
            </a:pPr>
            <a:endParaRPr/>
          </a:p>
        </p:txBody>
      </p:sp>
      <p:sp>
        <p:nvSpPr>
          <p:cNvPr id="266393379" name="Slide Number Placeholder 3"/>
          <p:cNvSpPr>
            <a:spLocks noGrp="1"/>
          </p:cNvSpPr>
          <p:nvPr>
            <p:ph type="sldNum" sz="quarter" idx="10"/>
          </p:nvPr>
        </p:nvSpPr>
        <p:spPr bwMode="auto"/>
        <p:txBody>
          <a:bodyPr/>
          <a:lstStyle/>
          <a:p>
            <a:pPr>
              <a:defRPr/>
            </a:pPr>
            <a:fld id="{704A85E0-2892-9345-DBEF-4BC1F33DF3D7}"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0383532" name="Slide Image Placeholder 1"/>
          <p:cNvSpPr>
            <a:spLocks noChangeAspect="1" noGrp="1" noRot="1"/>
          </p:cNvSpPr>
          <p:nvPr>
            <p:ph type="sldImg"/>
          </p:nvPr>
        </p:nvSpPr>
        <p:spPr bwMode="auto"/>
      </p:sp>
      <p:sp>
        <p:nvSpPr>
          <p:cNvPr id="198766586" name="Notes Placeholder 2"/>
          <p:cNvSpPr>
            <a:spLocks noGrp="1"/>
          </p:cNvSpPr>
          <p:nvPr>
            <p:ph type="body" idx="1"/>
          </p:nvPr>
        </p:nvSpPr>
        <p:spPr bwMode="auto"/>
        <p:txBody>
          <a:bodyPr/>
          <a:lstStyle/>
          <a:p>
            <a:pPr>
              <a:defRPr/>
            </a:pPr>
            <a:endParaRPr/>
          </a:p>
        </p:txBody>
      </p:sp>
      <p:sp>
        <p:nvSpPr>
          <p:cNvPr id="1650605725" name="Slide Number Placeholder 3"/>
          <p:cNvSpPr>
            <a:spLocks noGrp="1"/>
          </p:cNvSpPr>
          <p:nvPr>
            <p:ph type="sldNum" sz="quarter" idx="10"/>
          </p:nvPr>
        </p:nvSpPr>
        <p:spPr bwMode="auto"/>
        <p:txBody>
          <a:bodyPr/>
          <a:lstStyle/>
          <a:p>
            <a:pPr>
              <a:defRPr/>
            </a:pPr>
            <a:fld id="{608DE3ED-A390-05DA-0C65-6E03FEE09F90}"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976162825"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86271387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2030700438" name="Date Placeholder 3"/>
          <p:cNvSpPr>
            <a:spLocks noGrp="1"/>
          </p:cNvSpPr>
          <p:nvPr>
            <p:ph type="dt" sz="half" idx="10"/>
          </p:nvPr>
        </p:nvSpPr>
        <p:spPr bwMode="auto"/>
        <p:txBody>
          <a:bodyPr/>
          <a:lstStyle/>
          <a:p>
            <a:pPr>
              <a:defRPr/>
            </a:pPr>
            <a:fld id="{21C992F8-20E2-4793-BDE0-495CEAF0C9FC}" type="datetime1">
              <a:rPr lang="en-US"/>
              <a:t>10/3/2025</a:t>
            </a:fld>
            <a:endParaRPr lang="en-US"/>
          </a:p>
        </p:txBody>
      </p:sp>
      <p:sp>
        <p:nvSpPr>
          <p:cNvPr id="442208636" name="Footer Placeholder 4"/>
          <p:cNvSpPr>
            <a:spLocks noGrp="1"/>
          </p:cNvSpPr>
          <p:nvPr>
            <p:ph type="ftr" sz="quarter" idx="11"/>
          </p:nvPr>
        </p:nvSpPr>
        <p:spPr bwMode="auto"/>
        <p:txBody>
          <a:bodyPr/>
          <a:lstStyle/>
          <a:p>
            <a:pPr>
              <a:defRPr/>
            </a:pPr>
            <a:endParaRPr lang="en-US"/>
          </a:p>
        </p:txBody>
      </p:sp>
      <p:sp>
        <p:nvSpPr>
          <p:cNvPr id="1801474599"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36521288" name="Title 1"/>
          <p:cNvSpPr>
            <a:spLocks noGrp="1"/>
          </p:cNvSpPr>
          <p:nvPr>
            <p:ph type="title"/>
          </p:nvPr>
        </p:nvSpPr>
        <p:spPr bwMode="auto"/>
        <p:txBody>
          <a:bodyPr/>
          <a:lstStyle/>
          <a:p>
            <a:pPr>
              <a:defRPr/>
            </a:pPr>
            <a:r>
              <a:rPr lang="en-US"/>
              <a:t>Click to edit Master title style</a:t>
            </a:r>
            <a:endParaRPr/>
          </a:p>
        </p:txBody>
      </p:sp>
      <p:sp>
        <p:nvSpPr>
          <p:cNvPr id="142159964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93695801" name="Date Placeholder 3"/>
          <p:cNvSpPr>
            <a:spLocks noGrp="1"/>
          </p:cNvSpPr>
          <p:nvPr>
            <p:ph type="dt" sz="half" idx="10"/>
          </p:nvPr>
        </p:nvSpPr>
        <p:spPr bwMode="auto"/>
        <p:txBody>
          <a:bodyPr/>
          <a:lstStyle/>
          <a:p>
            <a:pPr>
              <a:defRPr/>
            </a:pPr>
            <a:fld id="{6BABB142-399F-419F-BFF7-7131C0EAA9FC}" type="datetime1">
              <a:rPr lang="en-US"/>
              <a:t>10/3/2025</a:t>
            </a:fld>
            <a:endParaRPr lang="en-US"/>
          </a:p>
        </p:txBody>
      </p:sp>
      <p:sp>
        <p:nvSpPr>
          <p:cNvPr id="244354652" name="Footer Placeholder 4"/>
          <p:cNvSpPr>
            <a:spLocks noGrp="1"/>
          </p:cNvSpPr>
          <p:nvPr>
            <p:ph type="ftr" sz="quarter" idx="11"/>
          </p:nvPr>
        </p:nvSpPr>
        <p:spPr bwMode="auto"/>
        <p:txBody>
          <a:bodyPr/>
          <a:lstStyle/>
          <a:p>
            <a:pPr>
              <a:defRPr/>
            </a:pPr>
            <a:endParaRPr lang="en-US"/>
          </a:p>
        </p:txBody>
      </p:sp>
      <p:sp>
        <p:nvSpPr>
          <p:cNvPr id="838021212"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600079877"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15250601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540119542" name="Date Placeholder 3"/>
          <p:cNvSpPr>
            <a:spLocks noGrp="1"/>
          </p:cNvSpPr>
          <p:nvPr>
            <p:ph type="dt" sz="half" idx="10"/>
          </p:nvPr>
        </p:nvSpPr>
        <p:spPr bwMode="auto"/>
        <p:txBody>
          <a:bodyPr/>
          <a:lstStyle/>
          <a:p>
            <a:pPr>
              <a:defRPr/>
            </a:pPr>
            <a:fld id="{E2BDBEF3-0F1C-47D2-A12D-83A7D5DE1D3B}" type="datetime1">
              <a:rPr lang="en-US"/>
              <a:t>10/3/2025</a:t>
            </a:fld>
            <a:endParaRPr lang="en-US"/>
          </a:p>
        </p:txBody>
      </p:sp>
      <p:sp>
        <p:nvSpPr>
          <p:cNvPr id="2135303219" name="Footer Placeholder 4"/>
          <p:cNvSpPr>
            <a:spLocks noGrp="1"/>
          </p:cNvSpPr>
          <p:nvPr>
            <p:ph type="ftr" sz="quarter" idx="11"/>
          </p:nvPr>
        </p:nvSpPr>
        <p:spPr bwMode="auto"/>
        <p:txBody>
          <a:bodyPr/>
          <a:lstStyle/>
          <a:p>
            <a:pPr>
              <a:defRPr/>
            </a:pPr>
            <a:endParaRPr lang="en-US"/>
          </a:p>
        </p:txBody>
      </p:sp>
      <p:sp>
        <p:nvSpPr>
          <p:cNvPr id="1631998418"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738031112" name="Title 1"/>
          <p:cNvSpPr>
            <a:spLocks noGrp="1"/>
          </p:cNvSpPr>
          <p:nvPr>
            <p:ph type="title"/>
          </p:nvPr>
        </p:nvSpPr>
        <p:spPr bwMode="auto"/>
        <p:txBody>
          <a:bodyPr/>
          <a:lstStyle/>
          <a:p>
            <a:pPr>
              <a:defRPr/>
            </a:pPr>
            <a:r>
              <a:rPr lang="en-US"/>
              <a:t>Click to edit Master title style</a:t>
            </a:r>
            <a:endParaRPr/>
          </a:p>
        </p:txBody>
      </p:sp>
      <p:sp>
        <p:nvSpPr>
          <p:cNvPr id="1548767299"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8874744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46114258" name="Date Placeholder 4"/>
          <p:cNvSpPr>
            <a:spLocks noGrp="1"/>
          </p:cNvSpPr>
          <p:nvPr>
            <p:ph type="dt" sz="half" idx="10"/>
          </p:nvPr>
        </p:nvSpPr>
        <p:spPr bwMode="auto"/>
        <p:txBody>
          <a:bodyPr/>
          <a:lstStyle/>
          <a:p>
            <a:pPr>
              <a:defRPr/>
            </a:pPr>
            <a:fld id="{052822DE-68DC-4EF2-B318-B4AFDC7B6EAF}" type="datetime1">
              <a:rPr lang="en-US"/>
              <a:t>10/3/2025</a:t>
            </a:fld>
            <a:endParaRPr lang="en-US"/>
          </a:p>
        </p:txBody>
      </p:sp>
      <p:sp>
        <p:nvSpPr>
          <p:cNvPr id="1327283016" name="Footer Placeholder 5"/>
          <p:cNvSpPr>
            <a:spLocks noGrp="1"/>
          </p:cNvSpPr>
          <p:nvPr>
            <p:ph type="ftr" sz="quarter" idx="11"/>
          </p:nvPr>
        </p:nvSpPr>
        <p:spPr bwMode="auto"/>
        <p:txBody>
          <a:bodyPr/>
          <a:lstStyle/>
          <a:p>
            <a:pPr>
              <a:defRPr/>
            </a:pPr>
            <a:endParaRPr lang="en-US"/>
          </a:p>
        </p:txBody>
      </p:sp>
      <p:sp>
        <p:nvSpPr>
          <p:cNvPr id="390894495"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81861799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017228474"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2002408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5638284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20400975"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10161231" name="Date Placeholder 6"/>
          <p:cNvSpPr>
            <a:spLocks noGrp="1"/>
          </p:cNvSpPr>
          <p:nvPr>
            <p:ph type="dt" sz="half" idx="10"/>
          </p:nvPr>
        </p:nvSpPr>
        <p:spPr bwMode="auto"/>
        <p:txBody>
          <a:bodyPr/>
          <a:lstStyle/>
          <a:p>
            <a:pPr>
              <a:defRPr/>
            </a:pPr>
            <a:fld id="{845DA005-9D5D-4487-B017-03D85422D15B}" type="datetime1">
              <a:rPr lang="en-US"/>
              <a:t>10/3/2025</a:t>
            </a:fld>
            <a:endParaRPr lang="en-US"/>
          </a:p>
        </p:txBody>
      </p:sp>
      <p:sp>
        <p:nvSpPr>
          <p:cNvPr id="1466435579" name="Footer Placeholder 7"/>
          <p:cNvSpPr>
            <a:spLocks noGrp="1"/>
          </p:cNvSpPr>
          <p:nvPr>
            <p:ph type="ftr" sz="quarter" idx="11"/>
          </p:nvPr>
        </p:nvSpPr>
        <p:spPr bwMode="auto"/>
        <p:txBody>
          <a:bodyPr/>
          <a:lstStyle/>
          <a:p>
            <a:pPr>
              <a:defRPr/>
            </a:pPr>
            <a:endParaRPr lang="en-US"/>
          </a:p>
        </p:txBody>
      </p:sp>
      <p:sp>
        <p:nvSpPr>
          <p:cNvPr id="405766150" name="Slide Number Placeholder 8"/>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83866553" name="Title 1"/>
          <p:cNvSpPr>
            <a:spLocks noGrp="1"/>
          </p:cNvSpPr>
          <p:nvPr>
            <p:ph type="title"/>
          </p:nvPr>
        </p:nvSpPr>
        <p:spPr bwMode="auto"/>
        <p:txBody>
          <a:bodyPr/>
          <a:lstStyle/>
          <a:p>
            <a:pPr>
              <a:defRPr/>
            </a:pPr>
            <a:r>
              <a:rPr lang="en-US"/>
              <a:t>Click to edit Master title style</a:t>
            </a:r>
            <a:endParaRPr/>
          </a:p>
        </p:txBody>
      </p:sp>
      <p:sp>
        <p:nvSpPr>
          <p:cNvPr id="1739575651" name="Date Placeholder 2"/>
          <p:cNvSpPr>
            <a:spLocks noGrp="1"/>
          </p:cNvSpPr>
          <p:nvPr>
            <p:ph type="dt" sz="half" idx="10"/>
          </p:nvPr>
        </p:nvSpPr>
        <p:spPr bwMode="auto"/>
        <p:txBody>
          <a:bodyPr/>
          <a:lstStyle/>
          <a:p>
            <a:pPr>
              <a:defRPr/>
            </a:pPr>
            <a:fld id="{BC1EDEF7-3A57-4951-B5AF-77FE58C56043}" type="datetime1">
              <a:rPr lang="en-US"/>
              <a:t>10/3/2025</a:t>
            </a:fld>
            <a:endParaRPr lang="en-US"/>
          </a:p>
        </p:txBody>
      </p:sp>
      <p:sp>
        <p:nvSpPr>
          <p:cNvPr id="826202579" name="Footer Placeholder 3"/>
          <p:cNvSpPr>
            <a:spLocks noGrp="1"/>
          </p:cNvSpPr>
          <p:nvPr>
            <p:ph type="ftr" sz="quarter" idx="11"/>
          </p:nvPr>
        </p:nvSpPr>
        <p:spPr bwMode="auto"/>
        <p:txBody>
          <a:bodyPr/>
          <a:lstStyle/>
          <a:p>
            <a:pPr>
              <a:defRPr/>
            </a:pPr>
            <a:endParaRPr lang="en-US"/>
          </a:p>
        </p:txBody>
      </p:sp>
      <p:sp>
        <p:nvSpPr>
          <p:cNvPr id="1943718054" name="Slide Number Placeholder 4"/>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269508793" name="Date Placeholder 1"/>
          <p:cNvSpPr>
            <a:spLocks noGrp="1"/>
          </p:cNvSpPr>
          <p:nvPr>
            <p:ph type="dt" sz="half" idx="10"/>
          </p:nvPr>
        </p:nvSpPr>
        <p:spPr bwMode="auto"/>
        <p:txBody>
          <a:bodyPr/>
          <a:lstStyle/>
          <a:p>
            <a:pPr>
              <a:defRPr/>
            </a:pPr>
            <a:fld id="{C7828A82-DE3C-49D8-96D2-BEE713C02A65}" type="datetime1">
              <a:rPr lang="en-US"/>
              <a:t>10/3/2025</a:t>
            </a:fld>
            <a:endParaRPr lang="en-US"/>
          </a:p>
        </p:txBody>
      </p:sp>
      <p:sp>
        <p:nvSpPr>
          <p:cNvPr id="311842006" name="Footer Placeholder 2"/>
          <p:cNvSpPr>
            <a:spLocks noGrp="1"/>
          </p:cNvSpPr>
          <p:nvPr>
            <p:ph type="ftr" sz="quarter" idx="11"/>
          </p:nvPr>
        </p:nvSpPr>
        <p:spPr bwMode="auto"/>
        <p:txBody>
          <a:bodyPr/>
          <a:lstStyle/>
          <a:p>
            <a:pPr>
              <a:defRPr/>
            </a:pPr>
            <a:endParaRPr lang="en-US"/>
          </a:p>
        </p:txBody>
      </p:sp>
      <p:sp>
        <p:nvSpPr>
          <p:cNvPr id="225579245" name="Slide Number Placeholder 3"/>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56901760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29065593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0654473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409830365" name="Date Placeholder 4"/>
          <p:cNvSpPr>
            <a:spLocks noGrp="1"/>
          </p:cNvSpPr>
          <p:nvPr>
            <p:ph type="dt" sz="half" idx="10"/>
          </p:nvPr>
        </p:nvSpPr>
        <p:spPr bwMode="auto"/>
        <p:txBody>
          <a:bodyPr/>
          <a:lstStyle/>
          <a:p>
            <a:pPr>
              <a:defRPr/>
            </a:pPr>
            <a:fld id="{2FAABA97-6E7A-4859-B8F8-AC3471277136}" type="datetime1">
              <a:rPr lang="en-US"/>
              <a:t>10/3/2025</a:t>
            </a:fld>
            <a:endParaRPr lang="en-US"/>
          </a:p>
        </p:txBody>
      </p:sp>
      <p:sp>
        <p:nvSpPr>
          <p:cNvPr id="639838551" name="Footer Placeholder 5"/>
          <p:cNvSpPr>
            <a:spLocks noGrp="1"/>
          </p:cNvSpPr>
          <p:nvPr>
            <p:ph type="ftr" sz="quarter" idx="11"/>
          </p:nvPr>
        </p:nvSpPr>
        <p:spPr bwMode="auto"/>
        <p:txBody>
          <a:bodyPr/>
          <a:lstStyle/>
          <a:p>
            <a:pPr>
              <a:defRPr/>
            </a:pPr>
            <a:endParaRPr lang="en-US"/>
          </a:p>
        </p:txBody>
      </p:sp>
      <p:sp>
        <p:nvSpPr>
          <p:cNvPr id="949807425"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596300574"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484556533"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52329778"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73644113" name="Date Placeholder 4"/>
          <p:cNvSpPr>
            <a:spLocks noGrp="1"/>
          </p:cNvSpPr>
          <p:nvPr>
            <p:ph type="dt" sz="half" idx="10"/>
          </p:nvPr>
        </p:nvSpPr>
        <p:spPr bwMode="auto"/>
        <p:txBody>
          <a:bodyPr/>
          <a:lstStyle/>
          <a:p>
            <a:pPr>
              <a:defRPr/>
            </a:pPr>
            <a:fld id="{16E6239A-3276-4C65-AC77-936294D5E15A}" type="datetime1">
              <a:rPr lang="en-US"/>
              <a:t>10/3/2025</a:t>
            </a:fld>
            <a:endParaRPr lang="en-US"/>
          </a:p>
        </p:txBody>
      </p:sp>
      <p:sp>
        <p:nvSpPr>
          <p:cNvPr id="970344542" name="Footer Placeholder 5"/>
          <p:cNvSpPr>
            <a:spLocks noGrp="1"/>
          </p:cNvSpPr>
          <p:nvPr>
            <p:ph type="ftr" sz="quarter" idx="11"/>
          </p:nvPr>
        </p:nvSpPr>
        <p:spPr bwMode="auto"/>
        <p:txBody>
          <a:bodyPr/>
          <a:lstStyle/>
          <a:p>
            <a:pPr>
              <a:defRPr/>
            </a:pPr>
            <a:endParaRPr lang="en-US"/>
          </a:p>
        </p:txBody>
      </p:sp>
      <p:sp>
        <p:nvSpPr>
          <p:cNvPr id="1560357401"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06918325" name="Title 1"/>
          <p:cNvSpPr>
            <a:spLocks noGrp="1"/>
          </p:cNvSpPr>
          <p:nvPr>
            <p:ph type="title"/>
          </p:nvPr>
        </p:nvSpPr>
        <p:spPr bwMode="auto"/>
        <p:txBody>
          <a:bodyPr/>
          <a:lstStyle/>
          <a:p>
            <a:pPr>
              <a:defRPr/>
            </a:pPr>
            <a:r>
              <a:rPr lang="en-US"/>
              <a:t>Click to edit Master title style</a:t>
            </a:r>
            <a:endParaRPr/>
          </a:p>
        </p:txBody>
      </p:sp>
      <p:sp>
        <p:nvSpPr>
          <p:cNvPr id="2883071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65922323" name="Date Placeholder 3"/>
          <p:cNvSpPr>
            <a:spLocks noGrp="1"/>
          </p:cNvSpPr>
          <p:nvPr>
            <p:ph type="dt" sz="half" idx="10"/>
          </p:nvPr>
        </p:nvSpPr>
        <p:spPr bwMode="auto"/>
        <p:txBody>
          <a:bodyPr/>
          <a:lstStyle/>
          <a:p>
            <a:pPr>
              <a:defRPr/>
            </a:pPr>
            <a:fld id="{0A8643CD-01F1-421E-8042-339D7137FC24}" type="datetime1">
              <a:rPr lang="en-US"/>
              <a:t>10/3/2025</a:t>
            </a:fld>
            <a:endParaRPr lang="en-US"/>
          </a:p>
        </p:txBody>
      </p:sp>
      <p:sp>
        <p:nvSpPr>
          <p:cNvPr id="1828749181" name="Footer Placeholder 4"/>
          <p:cNvSpPr>
            <a:spLocks noGrp="1"/>
          </p:cNvSpPr>
          <p:nvPr>
            <p:ph type="ftr" sz="quarter" idx="11"/>
          </p:nvPr>
        </p:nvSpPr>
        <p:spPr bwMode="auto"/>
        <p:txBody>
          <a:bodyPr/>
          <a:lstStyle/>
          <a:p>
            <a:pPr>
              <a:defRPr/>
            </a:pPr>
            <a:endParaRPr lang="en-US"/>
          </a:p>
        </p:txBody>
      </p:sp>
      <p:sp>
        <p:nvSpPr>
          <p:cNvPr id="1755242018"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1867089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1430701194"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52652994" name="Date Placeholder 3"/>
          <p:cNvSpPr>
            <a:spLocks noGrp="1"/>
          </p:cNvSpPr>
          <p:nvPr>
            <p:ph type="dt" sz="half" idx="10"/>
          </p:nvPr>
        </p:nvSpPr>
        <p:spPr bwMode="auto"/>
        <p:txBody>
          <a:bodyPr/>
          <a:lstStyle/>
          <a:p>
            <a:pPr>
              <a:defRPr/>
            </a:pPr>
            <a:fld id="{172E811C-13A3-4F75-9D18-51445B2BB9EC}" type="datetime1">
              <a:rPr lang="en-US"/>
              <a:t>10/3/2025</a:t>
            </a:fld>
            <a:endParaRPr lang="en-US"/>
          </a:p>
        </p:txBody>
      </p:sp>
      <p:sp>
        <p:nvSpPr>
          <p:cNvPr id="2047660373" name="Footer Placeholder 4"/>
          <p:cNvSpPr>
            <a:spLocks noGrp="1"/>
          </p:cNvSpPr>
          <p:nvPr>
            <p:ph type="ftr" sz="quarter" idx="11"/>
          </p:nvPr>
        </p:nvSpPr>
        <p:spPr bwMode="auto"/>
        <p:txBody>
          <a:bodyPr/>
          <a:lstStyle/>
          <a:p>
            <a:pPr>
              <a:defRPr/>
            </a:pPr>
            <a:endParaRPr lang="en-US"/>
          </a:p>
        </p:txBody>
      </p:sp>
      <p:sp>
        <p:nvSpPr>
          <p:cNvPr id="482359844"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52427976"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897132780"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5714496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6CAE79C-6D7C-4174-9B44-807C803E9136}" type="datetime1">
              <a:rPr lang="en-US"/>
              <a:t>10/3/2025</a:t>
            </a:fld>
            <a:endParaRPr lang="en-US"/>
          </a:p>
        </p:txBody>
      </p:sp>
      <p:sp>
        <p:nvSpPr>
          <p:cNvPr id="160363058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4649617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2552600-E312-2D4A-B2EE-ADB5725A2E93}"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doh.wa.gov/data-statistical-reports/washington-tracking-network-wtn/climate-projections/clean-energy-transformation-act/ceta-utility-instructions" TargetMode="External"/><Relationship Id="rId4" Type="http://schemas.openxmlformats.org/officeDocument/2006/relationships/hyperlink" Target="https://fortress.wa.gov/doh/wtnibl/WTNIBL/" TargetMode="External"/><Relationship Id="rId5" Type="http://schemas.openxmlformats.org/officeDocument/2006/relationships/hyperlink" Target="https://www.utc.wa.gov/casedocket/2020/200281/docset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0210033" name="Title 1"/>
          <p:cNvSpPr>
            <a:spLocks noGrp="1"/>
          </p:cNvSpPr>
          <p:nvPr>
            <p:ph type="ctrTitle"/>
          </p:nvPr>
        </p:nvSpPr>
        <p:spPr bwMode="auto">
          <a:xfrm>
            <a:off x="1524000" y="1122362"/>
            <a:ext cx="9144000" cy="2763837"/>
          </a:xfrm>
        </p:spPr>
        <p:txBody>
          <a:bodyPr>
            <a:normAutofit/>
          </a:bodyPr>
          <a:lstStyle/>
          <a:p>
            <a:pPr>
              <a:defRPr/>
            </a:pPr>
            <a:r>
              <a:rPr lang="en-US" b="1">
                <a:latin typeface="Arial"/>
                <a:cs typeface="Arial"/>
              </a:rPr>
              <a:t>Arrearage &amp; Disconnection Analysis </a:t>
            </a:r>
            <a:br>
              <a:rPr lang="en-US"/>
            </a:br>
            <a:r>
              <a:rPr lang="en-US" sz="4000" i="1">
                <a:latin typeface="Arial"/>
                <a:cs typeface="Arial"/>
              </a:rPr>
              <a:t>January - June 2025</a:t>
            </a:r>
            <a:endParaRPr lang="en-US" i="1">
              <a:latin typeface="Arial"/>
              <a:cs typeface="Arial"/>
            </a:endParaRPr>
          </a:p>
        </p:txBody>
      </p:sp>
      <p:sp>
        <p:nvSpPr>
          <p:cNvPr id="2027665133" name="Subtitle 2"/>
          <p:cNvSpPr>
            <a:spLocks noGrp="1"/>
          </p:cNvSpPr>
          <p:nvPr>
            <p:ph type="subTitle" idx="1"/>
          </p:nvPr>
        </p:nvSpPr>
        <p:spPr bwMode="auto">
          <a:xfrm>
            <a:off x="1524000" y="5204720"/>
            <a:ext cx="9144000" cy="1655762"/>
          </a:xfrm>
        </p:spPr>
        <p:txBody>
          <a:bodyPr vert="horz" lIns="91440" tIns="45720" rIns="91440" bIns="45720" rtlCol="0" anchor="t">
            <a:normAutofit/>
          </a:bodyPr>
          <a:lstStyle/>
          <a:p>
            <a:pPr>
              <a:defRPr/>
            </a:pPr>
            <a:r>
              <a:rPr lang="en-US">
                <a:latin typeface="Arial"/>
                <a:cs typeface="Arial"/>
              </a:rPr>
              <a:t>Charlee Thompson, NW Energy Coalition</a:t>
            </a:r>
            <a:endParaRPr/>
          </a:p>
        </p:txBody>
      </p:sp>
      <p:sp>
        <p:nvSpPr>
          <p:cNvPr id="36780429" name="Slide Number Placeholder 3"/>
          <p:cNvSpPr>
            <a:spLocks noGrp="1"/>
          </p:cNvSpPr>
          <p:nvPr>
            <p:ph type="sldNum" sz="quarter" idx="12"/>
          </p:nvPr>
        </p:nvSpPr>
        <p:spPr bwMode="auto"/>
        <p:txBody>
          <a:bodyPr/>
          <a:lstStyle/>
          <a:p>
            <a:pPr>
              <a:defRPr/>
            </a:pPr>
            <a:fld id="{12552600-E312-2D4A-B2EE-ADB5725A2E93}" type="slidenum">
              <a:rPr lang="en-US"/>
              <a:t>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7750764" name="Title 1"/>
          <p:cNvSpPr>
            <a:spLocks noGrp="1"/>
          </p:cNvSpPr>
          <p:nvPr>
            <p:ph type="title"/>
          </p:nvPr>
        </p:nvSpPr>
        <p:spPr bwMode="auto"/>
        <p:txBody>
          <a:bodyPr/>
          <a:lstStyle/>
          <a:p>
            <a:pPr>
              <a:defRPr/>
            </a:pPr>
            <a:r>
              <a:rPr lang="en-US">
                <a:latin typeface="Arial"/>
                <a:cs typeface="Arial"/>
              </a:rPr>
              <a:t>Acronyms and Terminology</a:t>
            </a:r>
            <a:endParaRPr/>
          </a:p>
        </p:txBody>
      </p:sp>
      <p:sp>
        <p:nvSpPr>
          <p:cNvPr id="343817841" name="Content Placeholder 2"/>
          <p:cNvSpPr>
            <a:spLocks noGrp="1"/>
          </p:cNvSpPr>
          <p:nvPr>
            <p:ph idx="1"/>
          </p:nvPr>
        </p:nvSpPr>
        <p:spPr bwMode="auto">
          <a:xfrm>
            <a:off x="838200" y="1457134"/>
            <a:ext cx="10515600" cy="4899215"/>
          </a:xfrm>
        </p:spPr>
        <p:txBody>
          <a:bodyPr vert="horz" lIns="91440" tIns="45720" rIns="91440" bIns="45720" rtlCol="0" anchor="t">
            <a:noAutofit/>
          </a:bodyPr>
          <a:lstStyle/>
          <a:p>
            <a:pPr>
              <a:defRPr/>
            </a:pPr>
            <a:r>
              <a:rPr lang="en-US" sz="2000">
                <a:latin typeface="Arial"/>
                <a:ea typeface="+mn-lt"/>
                <a:cs typeface="+mn-lt"/>
              </a:rPr>
              <a:t>AMP = Arrearage Management Plan</a:t>
            </a:r>
            <a:endParaRPr/>
          </a:p>
          <a:p>
            <a:pPr>
              <a:defRPr/>
            </a:pPr>
            <a:r>
              <a:rPr lang="en-US" sz="2000">
                <a:latin typeface="Arial"/>
                <a:ea typeface="+mn-lt"/>
                <a:cs typeface="+mn-lt"/>
              </a:rPr>
              <a:t>Arrearages = Past-due bills</a:t>
            </a:r>
            <a:endParaRPr lang="en-US" sz="2000">
              <a:latin typeface="Arial"/>
              <a:cs typeface="Calibri"/>
            </a:endParaRPr>
          </a:p>
          <a:p>
            <a:pPr>
              <a:defRPr/>
            </a:pPr>
            <a:r>
              <a:rPr lang="en-US" sz="2000">
                <a:latin typeface="Arial"/>
                <a:ea typeface="+mn-lt"/>
                <a:cs typeface="+mn-lt"/>
              </a:rPr>
              <a:t>BDR = Bill Discount Rate</a:t>
            </a:r>
            <a:endParaRPr/>
          </a:p>
          <a:p>
            <a:pPr>
              <a:defRPr/>
            </a:pPr>
            <a:r>
              <a:rPr lang="en-US" sz="2000">
                <a:latin typeface="Arial"/>
                <a:ea typeface="+mn-lt"/>
                <a:cs typeface="+mn-lt"/>
              </a:rPr>
              <a:t>CACAP = Crisis-Affected Customer Assistance Program</a:t>
            </a:r>
            <a:endParaRPr/>
          </a:p>
          <a:p>
            <a:pPr>
              <a:defRPr/>
            </a:pPr>
            <a:r>
              <a:rPr lang="en-US" sz="2000">
                <a:latin typeface="Arial"/>
                <a:ea typeface="+mn-lt"/>
                <a:cs typeface="+mn-lt"/>
              </a:rPr>
              <a:t>Census Tracts = Delineated geographic area within zip code</a:t>
            </a:r>
            <a:endParaRPr lang="en-US" sz="2000">
              <a:latin typeface="Arial"/>
              <a:cs typeface="Calibri"/>
            </a:endParaRPr>
          </a:p>
          <a:p>
            <a:pPr>
              <a:defRPr/>
            </a:pPr>
            <a:r>
              <a:rPr lang="en-US" sz="2000">
                <a:latin typeface="Arial"/>
                <a:ea typeface="+mn-lt"/>
                <a:cs typeface="+mn-lt"/>
              </a:rPr>
              <a:t>CETA = Clean Energy Transformation Act</a:t>
            </a:r>
            <a:endParaRPr/>
          </a:p>
          <a:p>
            <a:pPr>
              <a:defRPr/>
            </a:pPr>
            <a:r>
              <a:rPr lang="en-US" sz="2000">
                <a:latin typeface="Arial"/>
                <a:ea typeface="+mn-lt"/>
                <a:cs typeface="+mn-lt"/>
              </a:rPr>
              <a:t>Highly Impacted Communities = Communities in census tracts ranking a 9 or 10 on the Dept. of Health's Environmental Health Disparities Map </a:t>
            </a:r>
            <a:endParaRPr lang="en-US" sz="2000">
              <a:latin typeface="Arial"/>
              <a:cs typeface="Arial"/>
            </a:endParaRPr>
          </a:p>
          <a:p>
            <a:pPr>
              <a:defRPr/>
            </a:pPr>
            <a:r>
              <a:rPr lang="en-US" sz="2000">
                <a:latin typeface="Arial"/>
                <a:cs typeface="Arial"/>
              </a:rPr>
              <a:t>IOU = Investor-owned utility (PSE, Avista, Cascade Natural Gas, PacifiCorp, Northwest Natural)</a:t>
            </a:r>
            <a:endParaRPr/>
          </a:p>
          <a:p>
            <a:pPr>
              <a:defRPr/>
            </a:pPr>
            <a:r>
              <a:rPr lang="en-US" sz="2000">
                <a:latin typeface="Arial"/>
                <a:cs typeface="Arial"/>
              </a:rPr>
              <a:t>KLI = Known Low-Income</a:t>
            </a:r>
            <a:endParaRPr/>
          </a:p>
          <a:p>
            <a:pPr>
              <a:defRPr/>
            </a:pPr>
            <a:r>
              <a:rPr lang="en-US" sz="2000">
                <a:latin typeface="Arial"/>
                <a:cs typeface="Arial"/>
              </a:rPr>
              <a:t>LIHEAP = Low-Income Home Energy Assistance Program</a:t>
            </a:r>
            <a:endParaRPr/>
          </a:p>
          <a:p>
            <a:pPr>
              <a:defRPr/>
            </a:pPr>
            <a:r>
              <a:rPr lang="en-US" sz="2000">
                <a:latin typeface="Arial"/>
                <a:cs typeface="Arial"/>
              </a:rPr>
              <a:t>UTC = Utility and Transportation Commission</a:t>
            </a:r>
            <a:endParaRPr/>
          </a:p>
          <a:p>
            <a:pPr>
              <a:defRPr/>
            </a:pPr>
            <a:endParaRPr lang="en-US" sz="2000">
              <a:cs typeface="Calibri"/>
            </a:endParaRPr>
          </a:p>
          <a:p>
            <a:pPr>
              <a:defRPr/>
            </a:pPr>
            <a:endParaRPr lang="en-US" sz="2000">
              <a:cs typeface="Calibri"/>
            </a:endParaRPr>
          </a:p>
          <a:p>
            <a:pPr>
              <a:defRPr/>
            </a:pPr>
            <a:endParaRPr lang="en-US" sz="2000">
              <a:cs typeface="Calibri"/>
            </a:endParaRPr>
          </a:p>
          <a:p>
            <a:pPr>
              <a:defRPr/>
            </a:pPr>
            <a:endParaRPr lang="en-US"/>
          </a:p>
          <a:p>
            <a:pPr>
              <a:defRPr/>
            </a:pPr>
            <a:endParaRPr lang="en-US"/>
          </a:p>
          <a:p>
            <a:pPr>
              <a:defRPr/>
            </a:pPr>
            <a:endParaRPr lang="en-US"/>
          </a:p>
        </p:txBody>
      </p:sp>
      <p:sp>
        <p:nvSpPr>
          <p:cNvPr id="170526518" name="Slide Number Placeholder 3"/>
          <p:cNvSpPr>
            <a:spLocks noGrp="1"/>
          </p:cNvSpPr>
          <p:nvPr>
            <p:ph type="sldNum" sz="quarter" idx="12"/>
          </p:nvPr>
        </p:nvSpPr>
        <p:spPr bwMode="auto"/>
        <p:txBody>
          <a:bodyPr/>
          <a:lstStyle/>
          <a:p>
            <a:pPr>
              <a:defRPr/>
            </a:pPr>
            <a:fld id="{12552600-E312-2D4A-B2EE-ADB5725A2E93}" type="slidenum">
              <a:rPr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5791380" name="Title 1"/>
          <p:cNvSpPr>
            <a:spLocks noGrp="1"/>
          </p:cNvSpPr>
          <p:nvPr>
            <p:ph type="title"/>
          </p:nvPr>
        </p:nvSpPr>
        <p:spPr bwMode="auto">
          <a:xfrm>
            <a:off x="651042" y="391862"/>
            <a:ext cx="10515600" cy="1325563"/>
          </a:xfrm>
        </p:spPr>
        <p:txBody>
          <a:bodyPr/>
          <a:lstStyle/>
          <a:p>
            <a:pPr>
              <a:defRPr/>
            </a:pPr>
            <a:r>
              <a:rPr lang="en-US">
                <a:latin typeface="Arial"/>
                <a:cs typeface="Arial"/>
              </a:rPr>
              <a:t>Key Findings</a:t>
            </a:r>
            <a:endParaRPr/>
          </a:p>
        </p:txBody>
      </p:sp>
      <p:sp>
        <p:nvSpPr>
          <p:cNvPr id="656100748" name="Content Placeholder 2"/>
          <p:cNvSpPr>
            <a:spLocks noGrp="1"/>
          </p:cNvSpPr>
          <p:nvPr>
            <p:ph idx="1"/>
          </p:nvPr>
        </p:nvSpPr>
        <p:spPr bwMode="auto">
          <a:xfrm>
            <a:off x="651042" y="1713173"/>
            <a:ext cx="10970126" cy="4652128"/>
          </a:xfrm>
        </p:spPr>
        <p:txBody>
          <a:bodyPr vert="horz" lIns="91440" tIns="45720" rIns="91440" bIns="45720" rtlCol="0" anchor="t">
            <a:noAutofit/>
          </a:bodyPr>
          <a:lstStyle/>
          <a:p>
            <a:pPr>
              <a:defRPr/>
            </a:pPr>
            <a:endParaRPr lang="en-US"/>
          </a:p>
        </p:txBody>
      </p:sp>
      <p:sp>
        <p:nvSpPr>
          <p:cNvPr id="1351463708" name="Slide Number Placeholder 3"/>
          <p:cNvSpPr>
            <a:spLocks noGrp="1"/>
          </p:cNvSpPr>
          <p:nvPr>
            <p:ph type="sldNum" sz="quarter" idx="12"/>
          </p:nvPr>
        </p:nvSpPr>
        <p:spPr bwMode="auto"/>
        <p:txBody>
          <a:bodyPr/>
          <a:lstStyle/>
          <a:p>
            <a:pPr>
              <a:defRPr/>
            </a:pPr>
            <a:fld id="{12552600-E312-2D4A-B2EE-ADB5725A2E93}" type="slidenum">
              <a:rPr lang="en-US"/>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5474054"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ARREARAGES</a:t>
            </a:r>
            <a:endParaRPr/>
          </a:p>
        </p:txBody>
      </p:sp>
      <p:sp>
        <p:nvSpPr>
          <p:cNvPr id="247049874" name="Slide Number Placeholder 1"/>
          <p:cNvSpPr>
            <a:spLocks noGrp="1"/>
          </p:cNvSpPr>
          <p:nvPr>
            <p:ph type="sldNum" sz="quarter" idx="12"/>
          </p:nvPr>
        </p:nvSpPr>
        <p:spPr bwMode="auto"/>
        <p:txBody>
          <a:bodyPr/>
          <a:lstStyle/>
          <a:p>
            <a:pPr>
              <a:defRPr/>
            </a:pPr>
            <a:fld id="{12552600-E312-2D4A-B2EE-ADB5725A2E93}" type="slidenum">
              <a:rPr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1572707" name="TextBox 5"/>
          <p:cNvSpPr txBox="1"/>
          <p:nvPr/>
        </p:nvSpPr>
        <p:spPr bwMode="auto">
          <a:xfrm>
            <a:off x="2027223" y="5339101"/>
            <a:ext cx="8706858"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ea typeface="Calibri"/>
                <a:cs typeface="Arial"/>
              </a:rPr>
              <a:t>Key findings</a:t>
            </a:r>
            <a:endParaRPr/>
          </a:p>
        </p:txBody>
      </p:sp>
      <p:sp>
        <p:nvSpPr>
          <p:cNvPr id="304956011" name="Slide Number Placeholder 3"/>
          <p:cNvSpPr>
            <a:spLocks noGrp="1"/>
          </p:cNvSpPr>
          <p:nvPr>
            <p:ph type="sldNum" sz="quarter" idx="12"/>
          </p:nvPr>
        </p:nvSpPr>
        <p:spPr bwMode="auto"/>
        <p:txBody>
          <a:bodyPr/>
          <a:lstStyle/>
          <a:p>
            <a:pPr>
              <a:defRPr/>
            </a:pPr>
            <a:fld id="{12552600-E312-2D4A-B2EE-ADB5725A2E93}" type="slidenum">
              <a:rPr lang="en-US"/>
              <a:t>5</a:t>
            </a:fld>
            <a:endParaRPr lang="en-US"/>
          </a:p>
        </p:txBody>
      </p:sp>
      <p:pic>
        <p:nvPicPr>
          <p:cNvPr id="1601572708" name="Picture 1601572707" descr="arrearage_counts_stacked.png"/>
          <p:cNvPicPr>
            <a:picLocks noChangeAspect="1"/>
          </p:cNvPicPr>
          <p:nvPr/>
        </p:nvPicPr>
        <p:blipFill>
          <a:blip r:embed="rId3"/>
          <a:stretch>
            <a:fillRect/>
          </a:stretch>
        </p:blipFill>
        <p:spPr>
          <a:xfrm>
            <a:off x="2209800" y="685800"/>
            <a:ext cx="7772400" cy="4572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08052938" name="Picture 6" descr="A table with numbers and symbols&#10;&#10;Description automatically generated"/>
          <p:cNvPicPr>
            <a:picLocks noChangeAspect="1"/>
          </p:cNvPicPr>
          <p:nvPr/>
        </p:nvPicPr>
        <p:blipFill rotWithShape="1">
          <a:blip r:embed="rId3"/>
          <a:stretch/>
        </p:blipFill>
        <p:spPr bwMode="auto">
          <a:xfrm>
            <a:off x="6850900" y="4855615"/>
            <a:ext cx="3802222" cy="1657581"/>
          </a:xfrm>
          <a:prstGeom prst="rect">
            <a:avLst/>
          </a:prstGeom>
          <a:ln>
            <a:solidFill>
              <a:schemeClr val="tx1"/>
            </a:solidFill>
          </a:ln>
        </p:spPr>
      </p:pic>
      <p:pic>
        <p:nvPicPr>
          <p:cNvPr id="1155395807" name="Picture 8"/>
          <p:cNvPicPr>
            <a:picLocks noChangeAspect="1"/>
          </p:cNvPicPr>
          <p:nvPr/>
        </p:nvPicPr>
        <p:blipFill rotWithShape="1">
          <a:blip r:embed="rId4"/>
          <a:stretch/>
        </p:blipFill>
        <p:spPr bwMode="auto">
          <a:xfrm>
            <a:off x="507879" y="4867358"/>
            <a:ext cx="6134956" cy="1631318"/>
          </a:xfrm>
          <a:prstGeom prst="rect">
            <a:avLst/>
          </a:prstGeom>
          <a:ln>
            <a:solidFill>
              <a:schemeClr val="tx1"/>
            </a:solidFill>
          </a:ln>
        </p:spPr>
      </p:pic>
      <p:sp>
        <p:nvSpPr>
          <p:cNvPr id="1755934690" name="TextBox 9"/>
          <p:cNvSpPr txBox="1"/>
          <p:nvPr/>
        </p:nvSpPr>
        <p:spPr bwMode="auto">
          <a:xfrm>
            <a:off x="7870371" y="1487017"/>
            <a:ext cx="3688689" cy="640440"/>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cs typeface="Arial"/>
              </a:rPr>
              <a:t>Key findings</a:t>
            </a:r>
            <a:endParaRPr/>
          </a:p>
          <a:p>
            <a:pPr marL="285750" indent="-285750">
              <a:buFont typeface="Arial"/>
              <a:buChar char="•"/>
              <a:defRPr/>
            </a:pPr>
            <a:endParaRPr lang="en-US">
              <a:cs typeface="Calibri"/>
            </a:endParaRPr>
          </a:p>
        </p:txBody>
      </p:sp>
      <p:sp>
        <p:nvSpPr>
          <p:cNvPr id="386667770" name="Slide Number Placeholder 3"/>
          <p:cNvSpPr>
            <a:spLocks noGrp="1"/>
          </p:cNvSpPr>
          <p:nvPr>
            <p:ph type="sldNum" sz="quarter" idx="12"/>
          </p:nvPr>
        </p:nvSpPr>
        <p:spPr bwMode="auto"/>
        <p:txBody>
          <a:bodyPr/>
          <a:lstStyle/>
          <a:p>
            <a:pPr>
              <a:defRPr/>
            </a:pPr>
            <a:fld id="{12552600-E312-2D4A-B2EE-ADB5725A2E93}" type="slidenum">
              <a:rPr lang="en-US"/>
              <a:t>6</a:t>
            </a:fld>
            <a:endParaRPr lang="en-US"/>
          </a:p>
        </p:txBody>
      </p:sp>
      <p:pic>
        <p:nvPicPr>
          <p:cNvPr id="1755934691" name="Picture 1755934690" descr="arrearage_amounts_stacked.png"/>
          <p:cNvPicPr>
            <a:picLocks noChangeAspect="1"/>
          </p:cNvPicPr>
          <p:nvPr/>
        </p:nvPicPr>
        <p:blipFill>
          <a:blip r:embed="rId5"/>
          <a:stretch>
            <a:fillRect/>
          </a:stretch>
        </p:blipFill>
        <p:spPr>
          <a:xfrm>
            <a:off x="889000" y="685800"/>
            <a:ext cx="6858000" cy="41148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8707931" name="Slide Number Placeholder 1"/>
          <p:cNvSpPr>
            <a:spLocks noGrp="1"/>
          </p:cNvSpPr>
          <p:nvPr>
            <p:ph type="sldNum" sz="quarter" idx="12"/>
          </p:nvPr>
        </p:nvSpPr>
        <p:spPr bwMode="auto"/>
        <p:txBody>
          <a:bodyPr/>
          <a:lstStyle/>
          <a:p>
            <a:pPr>
              <a:defRPr/>
            </a:pPr>
            <a:fld id="{12552600-E312-2D4A-B2EE-ADB5725A2E93}" type="slidenum">
              <a:rPr lang="en-US"/>
              <a:t>7</a:t>
            </a:fld>
            <a:endParaRPr lang="en-US"/>
          </a:p>
        </p:txBody>
      </p:sp>
      <p:sp>
        <p:nvSpPr>
          <p:cNvPr id="507654454" name="TextBox 3"/>
          <p:cNvSpPr txBox="1"/>
          <p:nvPr/>
        </p:nvSpPr>
        <p:spPr bwMode="auto">
          <a:xfrm>
            <a:off x="1742749" y="4758240"/>
            <a:ext cx="8706858"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ea typeface="Calibri"/>
                <a:cs typeface="Arial"/>
              </a:rPr>
              <a:t>Key findings</a:t>
            </a:r>
            <a:endParaRPr/>
          </a:p>
        </p:txBody>
      </p:sp>
      <p:pic>
        <p:nvPicPr>
          <p:cNvPr id="1308707932" name="Picture 1308707931" descr="arrearage_amounts_vintage.png"/>
          <p:cNvPicPr>
            <a:picLocks noChangeAspect="1"/>
          </p:cNvPicPr>
          <p:nvPr/>
        </p:nvPicPr>
        <p:blipFill>
          <a:blip r:embed="rId3"/>
          <a:stretch>
            <a:fillRect/>
          </a:stretch>
        </p:blipFill>
        <p:spPr>
          <a:xfrm>
            <a:off x="457200" y="800100"/>
            <a:ext cx="5486400" cy="3657600"/>
          </a:xfrm>
          <a:prstGeom prst="rect">
            <a:avLst/>
          </a:prstGeom>
        </p:spPr>
      </p:pic>
      <p:pic>
        <p:nvPicPr>
          <p:cNvPr id="1308707933" name="Picture 1308707932" descr="kli_arrearage_amounts_vintage.png"/>
          <p:cNvPicPr>
            <a:picLocks noChangeAspect="1"/>
          </p:cNvPicPr>
          <p:nvPr/>
        </p:nvPicPr>
        <p:blipFill>
          <a:blip r:embed="rId4"/>
          <a:stretch>
            <a:fillRect/>
          </a:stretch>
        </p:blipFill>
        <p:spPr>
          <a:xfrm>
            <a:off x="5943600" y="800100"/>
            <a:ext cx="5486400" cy="3657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1203210" name="TextBox 3"/>
          <p:cNvSpPr txBox="1"/>
          <p:nvPr/>
        </p:nvSpPr>
        <p:spPr bwMode="auto">
          <a:xfrm>
            <a:off x="911280" y="4977147"/>
            <a:ext cx="10369794"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cs typeface="Arial"/>
              </a:rPr>
              <a:t>Key findings</a:t>
            </a:r>
            <a:endParaRPr/>
          </a:p>
        </p:txBody>
      </p:sp>
      <p:sp>
        <p:nvSpPr>
          <p:cNvPr id="1572366773" name="Slide Number Placeholder 4"/>
          <p:cNvSpPr>
            <a:spLocks noGrp="1"/>
          </p:cNvSpPr>
          <p:nvPr>
            <p:ph type="sldNum" sz="quarter" idx="12"/>
          </p:nvPr>
        </p:nvSpPr>
        <p:spPr bwMode="auto"/>
        <p:txBody>
          <a:bodyPr/>
          <a:lstStyle/>
          <a:p>
            <a:pPr>
              <a:defRPr/>
            </a:pPr>
            <a:fld id="{12552600-E312-2D4A-B2EE-ADB5725A2E93}" type="slidenum">
              <a:rPr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6181929"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BILL ASSISTANCE</a:t>
            </a:r>
            <a:endParaRPr/>
          </a:p>
        </p:txBody>
      </p:sp>
      <p:sp>
        <p:nvSpPr>
          <p:cNvPr id="498064587" name="Slide Number Placeholder 1"/>
          <p:cNvSpPr>
            <a:spLocks noGrp="1"/>
          </p:cNvSpPr>
          <p:nvPr>
            <p:ph type="sldNum" sz="quarter" idx="12"/>
          </p:nvPr>
        </p:nvSpPr>
        <p:spPr bwMode="auto"/>
        <p:txBody>
          <a:bodyPr/>
          <a:lstStyle/>
          <a:p>
            <a:pPr>
              <a:defRPr/>
            </a:pPr>
            <a:fld id="{12552600-E312-2D4A-B2EE-ADB5725A2E93}" type="slidenum">
              <a:rPr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5799801" name="TextBox 13"/>
          <p:cNvSpPr txBox="1"/>
          <p:nvPr/>
        </p:nvSpPr>
        <p:spPr bwMode="auto">
          <a:xfrm>
            <a:off x="1980764" y="5435256"/>
            <a:ext cx="7817905" cy="923330"/>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Bill assistance enrollments have increased</a:t>
            </a:r>
            <a:endParaRPr/>
          </a:p>
          <a:p>
            <a:pPr marL="285750" indent="-285750">
              <a:buFont typeface="Arial"/>
              <a:buChar char="•"/>
              <a:defRPr/>
            </a:pPr>
            <a:r>
              <a:rPr lang="en-US">
                <a:latin typeface="Arial"/>
                <a:cs typeface="Arial"/>
              </a:rPr>
              <a:t>PSE had spikes (Dec 2021, 2022) attributed to COVID-19 “CACAP” relief funding.</a:t>
            </a:r>
            <a:endParaRPr/>
          </a:p>
        </p:txBody>
      </p:sp>
      <p:sp>
        <p:nvSpPr>
          <p:cNvPr id="716226593" name="Slide Number Placeholder 3"/>
          <p:cNvSpPr>
            <a:spLocks noGrp="1"/>
          </p:cNvSpPr>
          <p:nvPr>
            <p:ph type="sldNum" sz="quarter" idx="12"/>
          </p:nvPr>
        </p:nvSpPr>
        <p:spPr bwMode="auto"/>
        <p:txBody>
          <a:bodyPr/>
          <a:lstStyle/>
          <a:p>
            <a:pPr>
              <a:defRPr/>
            </a:pPr>
            <a:fld id="{12552600-E312-2D4A-B2EE-ADB5725A2E93}" type="slidenum">
              <a:rPr lang="en-US"/>
              <a:t>10</a:t>
            </a:fld>
            <a:endParaRPr lang="en-US"/>
          </a:p>
        </p:txBody>
      </p:sp>
      <p:pic>
        <p:nvPicPr>
          <p:cNvPr id="977770737" name="Picture 1" descr="A graph of a number of individuals&#10;&#10;Description automatically generated"/>
          <p:cNvPicPr>
            <a:picLocks noChangeAspect="1"/>
          </p:cNvPicPr>
          <p:nvPr/>
        </p:nvPicPr>
        <p:blipFill rotWithShape="1">
          <a:blip r:embed="rId3"/>
          <a:stretch/>
        </p:blipFill>
        <p:spPr bwMode="auto">
          <a:xfrm>
            <a:off x="1981565" y="468147"/>
            <a:ext cx="7810195" cy="4678037"/>
          </a:xfrm>
          <a:prstGeom prst="rect">
            <a:avLst/>
          </a:prstGeom>
        </p:spPr>
      </p:pic>
      <p:pic>
        <p:nvPicPr>
          <p:cNvPr id="977770738" name="Picture 977770737" descr="bill_assist_stacked.png"/>
          <p:cNvPicPr>
            <a:picLocks noChangeAspect="1"/>
          </p:cNvPicPr>
          <p:nvPr/>
        </p:nvPicPr>
        <p:blipFill>
          <a:blip r:embed="rId4"/>
          <a:stretch>
            <a:fillRect/>
          </a:stretch>
        </p:blipFill>
        <p:spPr>
          <a:xfrm>
            <a:off x="2209800" y="685800"/>
            <a:ext cx="7772400" cy="4572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9753875" name="TextBox 13"/>
          <p:cNvSpPr txBox="1"/>
          <p:nvPr/>
        </p:nvSpPr>
        <p:spPr bwMode="auto">
          <a:xfrm>
            <a:off x="597132" y="5288203"/>
            <a:ext cx="11006273" cy="1200329"/>
          </a:xfrm>
          <a:prstGeom prst="rect">
            <a:avLst/>
          </a:prstGeom>
          <a:noFill/>
        </p:spPr>
        <p:txBody>
          <a:bodyPr wrap="square" lIns="91440" tIns="45720" rIns="91440" bIns="45720" rtlCol="0" anchor="t">
            <a:spAutoFit/>
          </a:bodyPr>
          <a:lstStyle/>
          <a:p>
            <a:pPr>
              <a:defRPr/>
            </a:pPr>
            <a:endParaRPr lang="en-US">
              <a:latin typeface="Arial"/>
              <a:cs typeface="Arial"/>
            </a:endParaRPr>
          </a:p>
          <a:p>
            <a:pPr marL="285750" indent="-285750">
              <a:buFont typeface="Arial"/>
              <a:buChar char="•"/>
              <a:defRPr/>
            </a:pPr>
            <a:r>
              <a:rPr lang="en-US">
                <a:latin typeface="Arial"/>
                <a:cs typeface="Arial"/>
              </a:rPr>
              <a:t>The differences in program enrollment across the IOUs may imply different approaches to program design and outreach, and higher enrollments in the heating season (winter months).</a:t>
            </a:r>
            <a:endParaRPr/>
          </a:p>
          <a:p>
            <a:pPr marL="285750" indent="-285750">
              <a:buFont typeface="Arial"/>
              <a:buChar char="•"/>
              <a:defRPr/>
            </a:pPr>
            <a:r>
              <a:rPr lang="en-US">
                <a:latin typeface="Arial"/>
                <a:cs typeface="Arial"/>
              </a:rPr>
              <a:t>PSE had spikes (Dec 2021, 2022) attributed to COVID-19 “CACAP” relief funding.</a:t>
            </a:r>
            <a:endParaRPr lang="en-US"/>
          </a:p>
        </p:txBody>
      </p:sp>
      <p:sp>
        <p:nvSpPr>
          <p:cNvPr id="277550200" name="Slide Number Placeholder 3"/>
          <p:cNvSpPr>
            <a:spLocks noGrp="1"/>
          </p:cNvSpPr>
          <p:nvPr>
            <p:ph type="sldNum" sz="quarter" idx="12"/>
          </p:nvPr>
        </p:nvSpPr>
        <p:spPr bwMode="auto"/>
        <p:txBody>
          <a:bodyPr/>
          <a:lstStyle/>
          <a:p>
            <a:pPr>
              <a:defRPr/>
            </a:pPr>
            <a:fld id="{12552600-E312-2D4A-B2EE-ADB5725A2E93}" type="slidenum">
              <a:rPr lang="en-US"/>
              <a:t>11</a:t>
            </a:fld>
            <a:endParaRPr lang="en-US"/>
          </a:p>
        </p:txBody>
      </p:sp>
      <p:pic>
        <p:nvPicPr>
          <p:cNvPr id="811338615" name="Picture 2" descr="A graph with a line going down&#10;&#10;Description automatically generated"/>
          <p:cNvPicPr>
            <a:picLocks noChangeAspect="1"/>
          </p:cNvPicPr>
          <p:nvPr/>
        </p:nvPicPr>
        <p:blipFill rotWithShape="1">
          <a:blip r:embed="rId3"/>
          <a:stretch/>
        </p:blipFill>
        <p:spPr bwMode="auto">
          <a:xfrm>
            <a:off x="153939" y="189755"/>
            <a:ext cx="4093144" cy="2308555"/>
          </a:xfrm>
          <a:prstGeom prst="rect">
            <a:avLst/>
          </a:prstGeom>
        </p:spPr>
      </p:pic>
      <p:pic>
        <p:nvPicPr>
          <p:cNvPr id="316813546" name="Picture 4"/>
          <p:cNvPicPr>
            <a:picLocks noChangeAspect="1"/>
          </p:cNvPicPr>
          <p:nvPr/>
        </p:nvPicPr>
        <p:blipFill rotWithShape="1">
          <a:blip r:embed="rId4"/>
          <a:stretch/>
        </p:blipFill>
        <p:spPr bwMode="auto">
          <a:xfrm>
            <a:off x="4338612" y="194011"/>
            <a:ext cx="3878235" cy="2306370"/>
          </a:xfrm>
          <a:prstGeom prst="rect">
            <a:avLst/>
          </a:prstGeom>
        </p:spPr>
      </p:pic>
      <p:pic>
        <p:nvPicPr>
          <p:cNvPr id="1754764881" name="Picture 5" descr="A graph with a line going up&#10;&#10;Description automatically generated"/>
          <p:cNvPicPr>
            <a:picLocks noChangeAspect="1"/>
          </p:cNvPicPr>
          <p:nvPr/>
        </p:nvPicPr>
        <p:blipFill rotWithShape="1">
          <a:blip r:embed="rId5"/>
          <a:stretch/>
        </p:blipFill>
        <p:spPr bwMode="auto">
          <a:xfrm>
            <a:off x="8311814" y="192152"/>
            <a:ext cx="3606533" cy="2354805"/>
          </a:xfrm>
          <a:prstGeom prst="rect">
            <a:avLst/>
          </a:prstGeom>
        </p:spPr>
      </p:pic>
      <p:pic>
        <p:nvPicPr>
          <p:cNvPr id="131361708" name="Picture 6" descr="A graph showing the number of companies in the bill assistance program&#10;&#10;Description automatically generated"/>
          <p:cNvPicPr>
            <a:picLocks noChangeAspect="1"/>
          </p:cNvPicPr>
          <p:nvPr/>
        </p:nvPicPr>
        <p:blipFill rotWithShape="1">
          <a:blip r:embed="rId6"/>
          <a:stretch/>
        </p:blipFill>
        <p:spPr bwMode="auto">
          <a:xfrm>
            <a:off x="1848260" y="2600134"/>
            <a:ext cx="4155539" cy="2300951"/>
          </a:xfrm>
          <a:prstGeom prst="rect">
            <a:avLst/>
          </a:prstGeom>
        </p:spPr>
      </p:pic>
      <p:pic>
        <p:nvPicPr>
          <p:cNvPr id="564021023" name="Picture 1" descr="A graph of a number of individuals&#10;&#10;Description automatically generated"/>
          <p:cNvPicPr>
            <a:picLocks noChangeAspect="1"/>
          </p:cNvPicPr>
          <p:nvPr/>
        </p:nvPicPr>
        <p:blipFill rotWithShape="1">
          <a:blip r:embed="rId7"/>
          <a:stretch/>
        </p:blipFill>
        <p:spPr bwMode="auto">
          <a:xfrm>
            <a:off x="6357685" y="2596700"/>
            <a:ext cx="4048490" cy="23511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50098023" name="Picture 4" descr="A graph of a number of customers with a number of payment arrangements&#10;&#10;Description automatically generated"/>
          <p:cNvPicPr>
            <a:picLocks noChangeAspect="1"/>
          </p:cNvPicPr>
          <p:nvPr/>
        </p:nvPicPr>
        <p:blipFill rotWithShape="1">
          <a:blip r:embed="rId3"/>
          <a:stretch/>
        </p:blipFill>
        <p:spPr bwMode="auto">
          <a:xfrm>
            <a:off x="6499445" y="833182"/>
            <a:ext cx="5386535" cy="3566153"/>
          </a:xfrm>
          <a:prstGeom prst="rect">
            <a:avLst/>
          </a:prstGeom>
        </p:spPr>
      </p:pic>
      <p:sp>
        <p:nvSpPr>
          <p:cNvPr id="75367535" name="TextBox 7"/>
          <p:cNvSpPr txBox="1"/>
          <p:nvPr/>
        </p:nvSpPr>
        <p:spPr bwMode="auto">
          <a:xfrm>
            <a:off x="2041887" y="5246002"/>
            <a:ext cx="8111724" cy="923330"/>
          </a:xfrm>
          <a:prstGeom prst="rect">
            <a:avLst/>
          </a:prstGeom>
          <a:noFill/>
        </p:spPr>
        <p:txBody>
          <a:bodyPr wrap="square" lIns="91440" tIns="45720" rIns="91440" bIns="45720" rtlCol="0" anchor="t">
            <a:spAutoFit/>
          </a:bodyPr>
          <a:lstStyle/>
          <a:p>
            <a:pPr>
              <a:defRPr/>
            </a:pPr>
            <a:r>
              <a:rPr lang="en-US">
                <a:latin typeface="Arial"/>
                <a:cs typeface="Arial"/>
              </a:rPr>
              <a:t>The number of customers with payment arrangements continues to increase across all 5 IOUs. </a:t>
            </a:r>
            <a:endParaRPr lang="en-US">
              <a:cs typeface="Calibri"/>
            </a:endParaRPr>
          </a:p>
          <a:p>
            <a:pPr marL="285750" indent="-285750">
              <a:buFont typeface="Arial"/>
              <a:buChar char="•"/>
              <a:defRPr/>
            </a:pPr>
            <a:endParaRPr lang="en-US"/>
          </a:p>
        </p:txBody>
      </p:sp>
      <p:sp>
        <p:nvSpPr>
          <p:cNvPr id="948506406" name="Slide Number Placeholder 3"/>
          <p:cNvSpPr>
            <a:spLocks noGrp="1"/>
          </p:cNvSpPr>
          <p:nvPr>
            <p:ph type="sldNum" sz="quarter" idx="12"/>
          </p:nvPr>
        </p:nvSpPr>
        <p:spPr bwMode="auto"/>
        <p:txBody>
          <a:bodyPr/>
          <a:lstStyle/>
          <a:p>
            <a:pPr>
              <a:defRPr/>
            </a:pPr>
            <a:fld id="{12552600-E312-2D4A-B2EE-ADB5725A2E93}" type="slidenum">
              <a:rPr lang="en-US"/>
              <a:t>12</a:t>
            </a:fld>
            <a:endParaRPr lang="en-US"/>
          </a:p>
        </p:txBody>
      </p:sp>
      <p:pic>
        <p:nvPicPr>
          <p:cNvPr id="2027626661" name="Picture 1" descr="A graph of a number of customers with numbers&#10;&#10;Description automatically generated"/>
          <p:cNvPicPr>
            <a:picLocks noChangeAspect="1"/>
          </p:cNvPicPr>
          <p:nvPr/>
        </p:nvPicPr>
        <p:blipFill rotWithShape="1">
          <a:blip r:embed="rId4"/>
          <a:stretch/>
        </p:blipFill>
        <p:spPr bwMode="auto">
          <a:xfrm>
            <a:off x="300587" y="833330"/>
            <a:ext cx="5995940" cy="35842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2676917" name="TextBox 6"/>
          <p:cNvSpPr txBox="1"/>
          <p:nvPr/>
        </p:nvSpPr>
        <p:spPr bwMode="auto">
          <a:xfrm>
            <a:off x="996497" y="5432810"/>
            <a:ext cx="10360174" cy="923330"/>
          </a:xfrm>
          <a:prstGeom prst="rect">
            <a:avLst/>
          </a:prstGeom>
          <a:noFill/>
        </p:spPr>
        <p:txBody>
          <a:bodyPr wrap="square" lIns="91440" tIns="45720" rIns="91440" bIns="45720" rtlCol="0" anchor="t">
            <a:spAutoFit/>
          </a:bodyPr>
          <a:lstStyle/>
          <a:p>
            <a:pPr>
              <a:defRPr/>
            </a:pPr>
            <a:endParaRPr lang="en-US">
              <a:cs typeface="Calibri"/>
            </a:endParaRPr>
          </a:p>
          <a:p>
            <a:pPr algn="ctr">
              <a:defRPr/>
            </a:pPr>
            <a:r>
              <a:rPr lang="en-US">
                <a:latin typeface="Arial"/>
                <a:cs typeface="Arial"/>
              </a:rPr>
              <a:t>PSE had a significant increase in monetary benefits at the beginning of 2024 due to new enrollments in their grant assistance program (PSE HELP).</a:t>
            </a:r>
            <a:endParaRPr/>
          </a:p>
        </p:txBody>
      </p:sp>
      <p:sp>
        <p:nvSpPr>
          <p:cNvPr id="846492561" name="Slide Number Placeholder 3"/>
          <p:cNvSpPr>
            <a:spLocks noGrp="1"/>
          </p:cNvSpPr>
          <p:nvPr>
            <p:ph type="sldNum" sz="quarter" idx="12"/>
          </p:nvPr>
        </p:nvSpPr>
        <p:spPr bwMode="auto"/>
        <p:txBody>
          <a:bodyPr/>
          <a:lstStyle/>
          <a:p>
            <a:pPr>
              <a:defRPr/>
            </a:pPr>
            <a:fld id="{12552600-E312-2D4A-B2EE-ADB5725A2E93}" type="slidenum">
              <a:rPr lang="en-US"/>
              <a:t>13</a:t>
            </a:fld>
            <a:endParaRPr lang="en-US"/>
          </a:p>
        </p:txBody>
      </p:sp>
      <p:pic>
        <p:nvPicPr>
          <p:cNvPr id="1416101740" name="Picture 1" descr="A graph of a number of utility bills&#10;&#10;Description automatically generated"/>
          <p:cNvPicPr>
            <a:picLocks noChangeAspect="1"/>
          </p:cNvPicPr>
          <p:nvPr/>
        </p:nvPicPr>
        <p:blipFill rotWithShape="1">
          <a:blip r:embed="rId3"/>
          <a:stretch/>
        </p:blipFill>
        <p:spPr bwMode="auto">
          <a:xfrm>
            <a:off x="2078790" y="446361"/>
            <a:ext cx="8034421" cy="48824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6320886" name="Slide Number Placeholder 1"/>
          <p:cNvSpPr>
            <a:spLocks noGrp="1"/>
          </p:cNvSpPr>
          <p:nvPr>
            <p:ph type="sldNum" sz="quarter" idx="12"/>
          </p:nvPr>
        </p:nvSpPr>
        <p:spPr bwMode="auto"/>
        <p:txBody>
          <a:bodyPr/>
          <a:lstStyle/>
          <a:p>
            <a:pPr>
              <a:defRPr/>
            </a:pPr>
            <a:fld id="{12552600-E312-2D4A-B2EE-ADB5725A2E93}" type="slidenum">
              <a:rPr lang="en-US"/>
              <a:t>14</a:t>
            </a:fld>
            <a:endParaRPr lang="en-US"/>
          </a:p>
        </p:txBody>
      </p:sp>
      <p:sp>
        <p:nvSpPr>
          <p:cNvPr id="577929171" name="TextBox 3"/>
          <p:cNvSpPr txBox="1"/>
          <p:nvPr/>
        </p:nvSpPr>
        <p:spPr bwMode="auto">
          <a:xfrm>
            <a:off x="2672348" y="5833977"/>
            <a:ext cx="68440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en-US">
                <a:latin typeface="Arial"/>
                <a:cs typeface="Calibri"/>
              </a:rPr>
              <a:t>LIHEAP spending has reached upwards of $4 million in a month.</a:t>
            </a:r>
            <a:r>
              <a:rPr lang="en-US">
                <a:cs typeface="Calibri"/>
              </a:rPr>
              <a:t> </a:t>
            </a:r>
            <a:endParaRPr lang="en-US"/>
          </a:p>
        </p:txBody>
      </p:sp>
      <p:pic>
        <p:nvPicPr>
          <p:cNvPr id="1925107225" name="Picture 4" descr="A graph of different colored bars&#10;&#10;Description automatically generated"/>
          <p:cNvPicPr>
            <a:picLocks noChangeAspect="1"/>
          </p:cNvPicPr>
          <p:nvPr/>
        </p:nvPicPr>
        <p:blipFill rotWithShape="1">
          <a:blip r:embed="rId3"/>
          <a:stretch/>
        </p:blipFill>
        <p:spPr bwMode="auto">
          <a:xfrm>
            <a:off x="2232122" y="410167"/>
            <a:ext cx="7727757" cy="503706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3256198"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DISCONNECTIONS</a:t>
            </a:r>
            <a:endParaRPr/>
          </a:p>
        </p:txBody>
      </p:sp>
      <p:sp>
        <p:nvSpPr>
          <p:cNvPr id="673387581" name="Slide Number Placeholder 1"/>
          <p:cNvSpPr>
            <a:spLocks noGrp="1"/>
          </p:cNvSpPr>
          <p:nvPr>
            <p:ph type="sldNum" sz="quarter" idx="12"/>
          </p:nvPr>
        </p:nvSpPr>
        <p:spPr bwMode="auto"/>
        <p:txBody>
          <a:bodyPr/>
          <a:lstStyle/>
          <a:p>
            <a:pPr>
              <a:defRPr/>
            </a:pPr>
            <a:fld id="{12552600-E312-2D4A-B2EE-ADB5725A2E93}" type="slidenum">
              <a:rPr lang="en-US"/>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408913" name="TextBox 5"/>
          <p:cNvSpPr txBox="1"/>
          <p:nvPr/>
        </p:nvSpPr>
        <p:spPr bwMode="auto">
          <a:xfrm>
            <a:off x="1653655" y="5296142"/>
            <a:ext cx="8871322" cy="1240433"/>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Disconnections after the COVID moratorium ended in Sept 2021 continue to increase. </a:t>
            </a:r>
            <a:endParaRPr/>
          </a:p>
          <a:p>
            <a:pPr marL="285750" indent="-285750">
              <a:buFont typeface="Arial"/>
              <a:buChar char="•"/>
              <a:defRPr/>
            </a:pPr>
            <a:r>
              <a:rPr lang="en-US">
                <a:latin typeface="Arial"/>
                <a:cs typeface="Arial"/>
              </a:rPr>
              <a:t>As PSE gradually decreases its “dunning” threshold from $1000 to $250 through the end of 2024, disconnections may increase further.</a:t>
            </a:r>
            <a:endParaRPr/>
          </a:p>
        </p:txBody>
      </p:sp>
      <p:sp>
        <p:nvSpPr>
          <p:cNvPr id="587777116" name="Slide Number Placeholder 3"/>
          <p:cNvSpPr>
            <a:spLocks noGrp="1"/>
          </p:cNvSpPr>
          <p:nvPr>
            <p:ph type="sldNum" sz="quarter" idx="12"/>
          </p:nvPr>
        </p:nvSpPr>
        <p:spPr bwMode="auto"/>
        <p:txBody>
          <a:bodyPr/>
          <a:lstStyle/>
          <a:p>
            <a:pPr>
              <a:defRPr/>
            </a:pPr>
            <a:fld id="{12552600-E312-2D4A-B2EE-ADB5725A2E93}" type="slidenum">
              <a:rPr lang="en-US"/>
              <a:t>16</a:t>
            </a:fld>
            <a:endParaRPr lang="en-US"/>
          </a:p>
        </p:txBody>
      </p:sp>
      <p:pic>
        <p:nvPicPr>
          <p:cNvPr id="372412490" name="Picture 1" descr="A graph of a number of people&#10;&#10;Description automatically generated"/>
          <p:cNvPicPr>
            <a:picLocks noChangeAspect="1"/>
          </p:cNvPicPr>
          <p:nvPr/>
        </p:nvPicPr>
        <p:blipFill rotWithShape="1">
          <a:blip r:embed="rId3"/>
          <a:stretch/>
        </p:blipFill>
        <p:spPr bwMode="auto">
          <a:xfrm>
            <a:off x="2306053" y="569805"/>
            <a:ext cx="7573210" cy="4481812"/>
          </a:xfrm>
          <a:prstGeom prst="rect">
            <a:avLst/>
          </a:prstGeom>
        </p:spPr>
      </p:pic>
      <p:pic>
        <p:nvPicPr>
          <p:cNvPr id="2041408914" name="Picture 2041408913" descr="disconnections_stacked.png"/>
          <p:cNvPicPr>
            <a:picLocks noChangeAspect="1"/>
          </p:cNvPicPr>
          <p:nvPr/>
        </p:nvPicPr>
        <p:blipFill>
          <a:blip r:embed="rId4"/>
          <a:stretch>
            <a:fillRect/>
          </a:stretch>
        </p:blipFill>
        <p:spPr>
          <a:xfrm>
            <a:off x="2209800" y="685800"/>
            <a:ext cx="7772400" cy="4572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6889051" name="TextBox 3"/>
          <p:cNvSpPr txBox="1"/>
          <p:nvPr/>
        </p:nvSpPr>
        <p:spPr bwMode="auto">
          <a:xfrm>
            <a:off x="1023257" y="2921168"/>
            <a:ext cx="10145486" cy="1015663"/>
          </a:xfrm>
          <a:prstGeom prst="rect">
            <a:avLst/>
          </a:prstGeom>
          <a:noFill/>
        </p:spPr>
        <p:txBody>
          <a:bodyPr wrap="square" lIns="91440" tIns="45720" rIns="91440" bIns="45720" rtlCol="0" anchor="t">
            <a:spAutoFit/>
          </a:bodyPr>
          <a:lstStyle/>
          <a:p>
            <a:pPr algn="ctr">
              <a:defRPr/>
            </a:pPr>
            <a:r>
              <a:rPr lang="en-US" sz="6000">
                <a:latin typeface="Arial"/>
                <a:cs typeface="Arial"/>
              </a:rPr>
              <a:t>COLLECTIONS</a:t>
            </a:r>
            <a:endParaRPr lang="en-US" sz="6000">
              <a:latin typeface="Arial"/>
              <a:cs typeface="Arial"/>
            </a:endParaRPr>
          </a:p>
        </p:txBody>
      </p:sp>
      <p:sp>
        <p:nvSpPr>
          <p:cNvPr id="1712682798" name="Slide Number Placeholder 1"/>
          <p:cNvSpPr>
            <a:spLocks noGrp="1"/>
          </p:cNvSpPr>
          <p:nvPr>
            <p:ph type="sldNum" sz="quarter" idx="12"/>
          </p:nvPr>
        </p:nvSpPr>
        <p:spPr bwMode="auto"/>
        <p:txBody>
          <a:bodyPr/>
          <a:lstStyle/>
          <a:p>
            <a:pPr>
              <a:defRPr/>
            </a:pPr>
            <a:fld id="{12552600-E312-2D4A-B2EE-ADB5725A2E93}" type="slidenum">
              <a:rPr lang="en-US"/>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4011172" name="TextBox 3"/>
          <p:cNvSpPr txBox="1"/>
          <p:nvPr/>
        </p:nvSpPr>
        <p:spPr bwMode="auto">
          <a:xfrm>
            <a:off x="1580479" y="5158869"/>
            <a:ext cx="9483805" cy="1200329"/>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The number of residential customers referred to collection agencies is gradually returning to its peak from early 2020.</a:t>
            </a:r>
            <a:endParaRPr/>
          </a:p>
          <a:p>
            <a:pPr marL="285750" indent="-285750">
              <a:buFont typeface="Arial"/>
              <a:buChar char="•"/>
              <a:defRPr/>
            </a:pPr>
            <a:r>
              <a:rPr lang="en-US">
                <a:latin typeface="Arial"/>
                <a:cs typeface="Arial"/>
              </a:rPr>
              <a:t>The total amount of bad debt referred to collection is increasing.</a:t>
            </a:r>
            <a:endParaRPr lang="en-US"/>
          </a:p>
          <a:p>
            <a:pPr marL="285750" indent="-285750">
              <a:buFont typeface="Arial"/>
              <a:buChar char="•"/>
              <a:defRPr/>
            </a:pPr>
            <a:endParaRPr lang="en-US">
              <a:latin typeface="Calibri"/>
              <a:ea typeface="Calibri"/>
              <a:cs typeface="Calibri"/>
            </a:endParaRPr>
          </a:p>
        </p:txBody>
      </p:sp>
      <p:sp>
        <p:nvSpPr>
          <p:cNvPr id="1007194882" name="Slide Number Placeholder 4"/>
          <p:cNvSpPr>
            <a:spLocks noGrp="1"/>
          </p:cNvSpPr>
          <p:nvPr>
            <p:ph type="sldNum" sz="quarter" idx="12"/>
          </p:nvPr>
        </p:nvSpPr>
        <p:spPr bwMode="auto"/>
        <p:txBody>
          <a:bodyPr/>
          <a:lstStyle/>
          <a:p>
            <a:pPr>
              <a:defRPr/>
            </a:pPr>
            <a:fld id="{12552600-E312-2D4A-B2EE-ADB5725A2E93}" type="slidenum">
              <a:rPr lang="en-US"/>
              <a:t>18</a:t>
            </a:fld>
            <a:endParaRPr lang="en-US"/>
          </a:p>
        </p:txBody>
      </p:sp>
      <p:pic>
        <p:nvPicPr>
          <p:cNvPr id="1323730483" name="Picture 5" descr="A graph of a number of customers&#10;&#10;Description automatically generated"/>
          <p:cNvPicPr>
            <a:picLocks noChangeAspect="1"/>
          </p:cNvPicPr>
          <p:nvPr/>
        </p:nvPicPr>
        <p:blipFill rotWithShape="1">
          <a:blip r:embed="rId3"/>
          <a:stretch/>
        </p:blipFill>
        <p:spPr bwMode="auto">
          <a:xfrm>
            <a:off x="391533" y="1237485"/>
            <a:ext cx="5594685" cy="3303831"/>
          </a:xfrm>
          <a:prstGeom prst="rect">
            <a:avLst/>
          </a:prstGeom>
        </p:spPr>
      </p:pic>
      <p:pic>
        <p:nvPicPr>
          <p:cNvPr id="1225823882" name="Picture 6" descr="A graph of bad debt&#10;&#10;Description automatically generated"/>
          <p:cNvPicPr>
            <a:picLocks noChangeAspect="1"/>
          </p:cNvPicPr>
          <p:nvPr/>
        </p:nvPicPr>
        <p:blipFill rotWithShape="1">
          <a:blip r:embed="rId4"/>
          <a:stretch/>
        </p:blipFill>
        <p:spPr bwMode="auto">
          <a:xfrm>
            <a:off x="6325896" y="1232099"/>
            <a:ext cx="5480243" cy="33052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1261881" name="Slide Number Placeholder 1"/>
          <p:cNvSpPr>
            <a:spLocks noGrp="1"/>
          </p:cNvSpPr>
          <p:nvPr>
            <p:ph type="sldNum" sz="quarter" idx="12"/>
          </p:nvPr>
        </p:nvSpPr>
        <p:spPr bwMode="auto"/>
        <p:txBody>
          <a:bodyPr/>
          <a:lstStyle/>
          <a:p>
            <a:pPr>
              <a:defRPr/>
            </a:pPr>
            <a:fld id="{12552600-E312-2D4A-B2EE-ADB5725A2E93}" type="slidenum">
              <a:rPr lang="en-US"/>
              <a:t>19</a:t>
            </a:fld>
            <a:endParaRPr lang="en-US"/>
          </a:p>
        </p:txBody>
      </p:sp>
      <p:sp>
        <p:nvSpPr>
          <p:cNvPr id="1218738911" name="TextBox 3"/>
          <p:cNvSpPr txBox="1"/>
          <p:nvPr/>
        </p:nvSpPr>
        <p:spPr bwMode="auto">
          <a:xfrm>
            <a:off x="470505" y="1859230"/>
            <a:ext cx="11255836" cy="3447098"/>
          </a:xfrm>
          <a:prstGeom prst="rect">
            <a:avLst/>
          </a:prstGeom>
          <a:noFill/>
        </p:spPr>
        <p:txBody>
          <a:bodyPr wrap="square" lIns="91440" tIns="45720" rIns="91440" bIns="45720" rtlCol="0" anchor="t">
            <a:spAutoFit/>
          </a:bodyPr>
          <a:lstStyle/>
          <a:p>
            <a:pPr>
              <a:defRPr/>
            </a:pPr>
            <a:endParaRPr lang="en-US" sz="2000">
              <a:latin typeface="Arial"/>
              <a:cs typeface="Calibri"/>
            </a:endParaRPr>
          </a:p>
          <a:p>
            <a:pPr>
              <a:defRPr/>
            </a:pPr>
            <a:r>
              <a:rPr lang="en-US" sz="2000">
                <a:latin typeface="Arial"/>
                <a:cs typeface="Arial"/>
              </a:rPr>
              <a:t>Washington State Department of Health, Highly Impacted Communities Identification Tools:</a:t>
            </a:r>
            <a:endParaRPr/>
          </a:p>
          <a:p>
            <a:pPr>
              <a:defRPr/>
            </a:pPr>
            <a:r>
              <a:rPr lang="en-US" sz="2000" u="sng">
                <a:latin typeface="Arial"/>
                <a:cs typeface="Arial"/>
                <a:hlinkClick r:id="rId3" tooltip=""/>
              </a:rPr>
              <a:t>https://doh.wa.gov/data-statistical-reports/washington-tracking-network-wtn/climate-projections/clean-energy-transformation-act/ceta-utility-instructions</a:t>
            </a:r>
            <a:r>
              <a:rPr lang="en-US" sz="2000">
                <a:latin typeface="Arial"/>
                <a:cs typeface="Arial"/>
              </a:rPr>
              <a:t> </a:t>
            </a:r>
            <a:endParaRPr/>
          </a:p>
          <a:p>
            <a:pPr>
              <a:defRPr/>
            </a:pPr>
            <a:endParaRPr lang="en-US" sz="2000">
              <a:latin typeface="Arial"/>
              <a:cs typeface="Arial"/>
            </a:endParaRPr>
          </a:p>
          <a:p>
            <a:pPr>
              <a:defRPr/>
            </a:pPr>
            <a:r>
              <a:rPr lang="en-US" sz="2000">
                <a:latin typeface="Arial"/>
                <a:cs typeface="Arial"/>
              </a:rPr>
              <a:t>Washington Department of Health Environmental Health Disparities Map</a:t>
            </a:r>
            <a:endParaRPr/>
          </a:p>
          <a:p>
            <a:pPr>
              <a:defRPr/>
            </a:pPr>
            <a:r>
              <a:rPr lang="en-US" sz="2000" u="sng">
                <a:latin typeface="Arial"/>
                <a:cs typeface="Arial"/>
                <a:hlinkClick r:id="rId4" tooltip=""/>
              </a:rPr>
              <a:t>https://fortress.wa.gov/doh/wtnibl/WTNIBL/</a:t>
            </a:r>
            <a:endParaRPr lang="en-US" sz="2000">
              <a:latin typeface="Arial"/>
              <a:cs typeface="Arial"/>
            </a:endParaRPr>
          </a:p>
          <a:p>
            <a:pPr>
              <a:defRPr/>
            </a:pPr>
            <a:endParaRPr lang="en-US" sz="2000">
              <a:latin typeface="Arial"/>
              <a:cs typeface="Arial"/>
            </a:endParaRPr>
          </a:p>
          <a:p>
            <a:pPr>
              <a:defRPr/>
            </a:pPr>
            <a:r>
              <a:rPr lang="en-US" sz="2000">
                <a:latin typeface="Arial"/>
                <a:cs typeface="Arial"/>
              </a:rPr>
              <a:t>Washington Utilities and Transportation Commission, Docket Set U-200281 </a:t>
            </a:r>
            <a:endParaRPr/>
          </a:p>
          <a:p>
            <a:pPr>
              <a:defRPr/>
            </a:pPr>
            <a:r>
              <a:rPr lang="en-US" sz="2000" u="sng">
                <a:latin typeface="Arial"/>
                <a:cs typeface="Arial"/>
                <a:hlinkClick r:id="rId5" tooltip=""/>
              </a:rPr>
              <a:t>https://www.utc.wa.gov/casedocket/2020/200281/docsets</a:t>
            </a:r>
            <a:r>
              <a:rPr lang="en-US" sz="2000">
                <a:latin typeface="Arial"/>
                <a:cs typeface="Arial"/>
              </a:rPr>
              <a:t> </a:t>
            </a:r>
            <a:endParaRPr/>
          </a:p>
          <a:p>
            <a:pPr>
              <a:defRPr/>
            </a:pPr>
            <a:endParaRPr lang="en-US"/>
          </a:p>
        </p:txBody>
      </p:sp>
      <p:sp>
        <p:nvSpPr>
          <p:cNvPr id="820012702" name="TextBox 5"/>
          <p:cNvSpPr txBox="1"/>
          <p:nvPr/>
        </p:nvSpPr>
        <p:spPr bwMode="auto">
          <a:xfrm>
            <a:off x="1023257" y="524649"/>
            <a:ext cx="10145486" cy="1015663"/>
          </a:xfrm>
          <a:prstGeom prst="rect">
            <a:avLst/>
          </a:prstGeom>
          <a:noFill/>
        </p:spPr>
        <p:txBody>
          <a:bodyPr wrap="square" lIns="91440" tIns="45720" rIns="91440" bIns="45720" rtlCol="0" anchor="t">
            <a:spAutoFit/>
          </a:bodyPr>
          <a:lstStyle/>
          <a:p>
            <a:pPr algn="ctr">
              <a:defRPr/>
            </a:pPr>
            <a:r>
              <a:rPr lang="en-US" sz="6000">
                <a:latin typeface="Arial"/>
                <a:cs typeface="Arial"/>
              </a:rPr>
              <a:t>SOURCES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1838564" name="TextBox 3"/>
          <p:cNvSpPr txBox="1"/>
          <p:nvPr/>
        </p:nvSpPr>
        <p:spPr bwMode="auto">
          <a:xfrm>
            <a:off x="1023257" y="2459504"/>
            <a:ext cx="10145486" cy="1015663"/>
          </a:xfrm>
          <a:prstGeom prst="rect">
            <a:avLst/>
          </a:prstGeom>
          <a:noFill/>
        </p:spPr>
        <p:txBody>
          <a:bodyPr wrap="square" rtlCol="0">
            <a:spAutoFit/>
          </a:bodyPr>
          <a:lstStyle/>
          <a:p>
            <a:pPr algn="ctr">
              <a:defRPr/>
            </a:pPr>
            <a:r>
              <a:rPr lang="en-US" sz="6000">
                <a:latin typeface="Arial"/>
                <a:cs typeface="Arial"/>
              </a:rPr>
              <a:t>APPENDIX</a:t>
            </a:r>
            <a:endParaRPr/>
          </a:p>
        </p:txBody>
      </p:sp>
      <p:sp>
        <p:nvSpPr>
          <p:cNvPr id="790824342" name="Slide Number Placeholder 1"/>
          <p:cNvSpPr>
            <a:spLocks noGrp="1"/>
          </p:cNvSpPr>
          <p:nvPr>
            <p:ph type="sldNum" sz="quarter" idx="12"/>
          </p:nvPr>
        </p:nvSpPr>
        <p:spPr bwMode="auto"/>
        <p:txBody>
          <a:bodyPr/>
          <a:lstStyle/>
          <a:p>
            <a:pPr>
              <a:defRPr/>
            </a:pPr>
            <a:fld id="{12552600-E312-2D4A-B2EE-ADB5725A2E93}" type="slidenum">
              <a:rPr lang="en-US"/>
              <a:t>20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3587093" name="Slide Number Placeholder 1"/>
          <p:cNvSpPr>
            <a:spLocks noGrp="1"/>
          </p:cNvSpPr>
          <p:nvPr>
            <p:ph type="sldNum" sz="quarter" idx="12"/>
          </p:nvPr>
        </p:nvSpPr>
        <p:spPr bwMode="auto"/>
        <p:txBody>
          <a:bodyPr/>
          <a:lstStyle/>
          <a:p>
            <a:pPr>
              <a:defRPr/>
            </a:pPr>
            <a:fld id="{12552600-E312-2D4A-B2EE-ADB5725A2E93}" type="slidenum">
              <a:rPr lang="en-US"/>
              <a:t>21</a:t>
            </a:fld>
            <a:endParaRPr lang="en-US"/>
          </a:p>
        </p:txBody>
      </p:sp>
      <p:sp>
        <p:nvSpPr>
          <p:cNvPr id="1112406232" name="TextBox 4"/>
          <p:cNvSpPr txBox="1"/>
          <p:nvPr/>
        </p:nvSpPr>
        <p:spPr bwMode="auto">
          <a:xfrm>
            <a:off x="834186" y="364795"/>
            <a:ext cx="10524742" cy="6124754"/>
          </a:xfrm>
          <a:prstGeom prst="rect">
            <a:avLst/>
          </a:prstGeom>
          <a:noFill/>
        </p:spPr>
        <p:txBody>
          <a:bodyPr wrap="square" lIns="91440" tIns="45720" rIns="91440" bIns="45720" rtlCol="0" anchor="t">
            <a:spAutoFit/>
          </a:bodyPr>
          <a:lstStyle/>
          <a:p>
            <a:pPr algn="ctr">
              <a:defRPr/>
            </a:pPr>
            <a:r>
              <a:rPr lang="en-US" sz="2800">
                <a:latin typeface="Arial"/>
                <a:cs typeface="Arial"/>
              </a:rPr>
              <a:t>Bill Assistance Programs Reported in IOU Monthly Reports</a:t>
            </a:r>
            <a:endParaRPr lang="en-US"/>
          </a:p>
          <a:p>
            <a:pPr>
              <a:defRPr/>
            </a:pPr>
            <a:endParaRPr lang="en-US" sz="1100" b="1">
              <a:solidFill>
                <a:srgbClr val="242424"/>
              </a:solidFill>
              <a:highlight>
                <a:srgbClr val="FFFFFF"/>
              </a:highlight>
              <a:latin typeface="Arial"/>
              <a:cs typeface="Arial"/>
            </a:endParaRPr>
          </a:p>
          <a:p>
            <a:pPr>
              <a:defRPr/>
            </a:pPr>
            <a:endParaRPr lang="en-US" b="1">
              <a:solidFill>
                <a:srgbClr val="242424"/>
              </a:solidFill>
              <a:highlight>
                <a:srgbClr val="FFFFFF"/>
              </a:highlight>
              <a:latin typeface="Arial"/>
              <a:cs typeface="Arial"/>
            </a:endParaRPr>
          </a:p>
          <a:p>
            <a:pPr>
              <a:defRPr/>
            </a:pPr>
            <a:r>
              <a:rPr lang="en-US" b="1">
                <a:solidFill>
                  <a:srgbClr val="242424"/>
                </a:solidFill>
                <a:highlight>
                  <a:srgbClr val="FFFFFF"/>
                </a:highlight>
                <a:latin typeface="Arial"/>
                <a:cs typeface="Arial"/>
              </a:rPr>
              <a:t>Puget Sound Energy</a:t>
            </a:r>
            <a:endParaRPr lang="en-US">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PSE HELP</a:t>
            </a:r>
            <a:r>
              <a:rPr lang="en-US">
                <a:solidFill>
                  <a:srgbClr val="242424"/>
                </a:solidFill>
                <a:highlight>
                  <a:srgbClr val="FFFFFF"/>
                </a:highlight>
                <a:latin typeface="Arial"/>
                <a:cs typeface="Arial"/>
              </a:rPr>
              <a:t>)</a:t>
            </a:r>
            <a:endParaRPr lang="en-US" b="0" i="0">
              <a:solidFill>
                <a:srgbClr val="242424"/>
              </a:solidFill>
              <a:highlight>
                <a:srgbClr val="FFFFFF"/>
              </a:highlight>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Excludes: BDR, AMP</a:t>
            </a:r>
            <a:r>
              <a:rPr lang="en-US" b="0" i="0">
                <a:solidFill>
                  <a:srgbClr val="242424"/>
                </a:solidFill>
                <a:highlight>
                  <a:srgbClr val="FFFFFF"/>
                </a:highlight>
                <a:latin typeface="Arial"/>
                <a:cs typeface="Arial"/>
              </a:rPr>
              <a:t> (which will begin Oct 2024</a:t>
            </a:r>
            <a:r>
              <a:rPr lang="en-US">
                <a:solidFill>
                  <a:srgbClr val="242424"/>
                </a:solidFill>
                <a:highlight>
                  <a:srgbClr val="FFFFFF"/>
                </a:highlight>
                <a:latin typeface="Arial"/>
                <a:cs typeface="Arial"/>
              </a:rPr>
              <a:t>), </a:t>
            </a:r>
            <a:r>
              <a:rPr lang="en-US" b="0" i="0">
                <a:solidFill>
                  <a:srgbClr val="242424"/>
                </a:solidFill>
                <a:highlight>
                  <a:srgbClr val="FFFFFF"/>
                </a:highlight>
                <a:latin typeface="Arial"/>
                <a:cs typeface="Arial"/>
              </a:rPr>
              <a:t>Donation program</a:t>
            </a:r>
            <a:endParaRPr/>
          </a:p>
          <a:p>
            <a:pPr>
              <a:defRPr/>
            </a:pPr>
            <a:endParaRPr lang="en-US">
              <a:solidFill>
                <a:srgbClr val="242424"/>
              </a:solidFill>
              <a:highlight>
                <a:srgbClr val="FFFFFF"/>
              </a:highlight>
              <a:latin typeface="Arial"/>
              <a:cs typeface="Calibri"/>
            </a:endParaRPr>
          </a:p>
          <a:p>
            <a:pPr marR="0" algn="l">
              <a:spcBef>
                <a:spcPts val="0"/>
              </a:spcBef>
              <a:spcAft>
                <a:spcPts val="0"/>
              </a:spcAft>
              <a:defRPr/>
            </a:pPr>
            <a:r>
              <a:rPr lang="en-US" b="1" i="0">
                <a:solidFill>
                  <a:srgbClr val="242424"/>
                </a:solidFill>
                <a:highlight>
                  <a:srgbClr val="FFFFFF"/>
                </a:highlight>
                <a:latin typeface="Arial"/>
                <a:cs typeface="Calibri"/>
              </a:rPr>
              <a:t>Avista</a:t>
            </a:r>
            <a:endParaRPr lang="en-US" b="1">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 BDR, AMP, 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("LIRAP"), </a:t>
            </a:r>
            <a:r>
              <a:rPr lang="en-US" b="0" i="0">
                <a:solidFill>
                  <a:srgbClr val="242424"/>
                </a:solidFill>
                <a:highlight>
                  <a:srgbClr val="FFFFFF"/>
                </a:highlight>
                <a:latin typeface="Arial"/>
                <a:cs typeface="Arial"/>
              </a:rPr>
              <a:t>Donation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Project Share”)</a:t>
            </a:r>
            <a:endParaRPr/>
          </a:p>
          <a:p>
            <a:pPr>
              <a:defRPr/>
            </a:pPr>
            <a:endParaRPr lang="en-US">
              <a:solidFill>
                <a:srgbClr val="242424"/>
              </a:solidFill>
              <a:highlight>
                <a:srgbClr val="FFFFFF"/>
              </a:highlight>
              <a:latin typeface="Arial"/>
              <a:cs typeface="Arial"/>
            </a:endParaRPr>
          </a:p>
          <a:p>
            <a:pPr marR="0" algn="l">
              <a:spcBef>
                <a:spcPts val="0"/>
              </a:spcBef>
              <a:spcAft>
                <a:spcPts val="0"/>
              </a:spcAft>
              <a:defRPr/>
            </a:pPr>
            <a:r>
              <a:rPr lang="en-US" b="1" i="0">
                <a:solidFill>
                  <a:srgbClr val="242424"/>
                </a:solidFill>
                <a:highlight>
                  <a:srgbClr val="FFFFFF"/>
                </a:highlight>
                <a:latin typeface="Arial"/>
                <a:cs typeface="Arial"/>
              </a:rPr>
              <a:t>PacifiCorp</a:t>
            </a:r>
            <a:endParaRPr lang="en-US" b="1">
              <a:latin typeface="Arial"/>
              <a:cs typeface="Arial"/>
            </a:endParaRPr>
          </a:p>
          <a:p>
            <a:pPr marL="171450" marR="0" indent="-171450" algn="l">
              <a:spcBef>
                <a:spcPts val="0"/>
              </a:spcBef>
              <a:spcAft>
                <a:spcPts val="0"/>
              </a:spcAft>
              <a:buFont typeface="Arial"/>
              <a:buChar char="•"/>
              <a:defRPr/>
            </a:pPr>
            <a:r>
              <a:rPr lang="en-US">
                <a:solidFill>
                  <a:srgbClr val="242424"/>
                </a:solidFill>
                <a:highlight>
                  <a:srgbClr val="FFFFFF"/>
                </a:highlight>
                <a:latin typeface="Arial"/>
                <a:cs typeface="Calibri"/>
              </a:rPr>
              <a:t>PAC</a:t>
            </a:r>
            <a:r>
              <a:rPr lang="en-US" b="0" i="0">
                <a:solidFill>
                  <a:srgbClr val="242424"/>
                </a:solidFill>
                <a:highlight>
                  <a:srgbClr val="FFFFFF"/>
                </a:highlight>
                <a:latin typeface="Arial"/>
                <a:cs typeface="Calibri"/>
              </a:rPr>
              <a:t> is not reporting any programs other than LIHEAP.</a:t>
            </a:r>
            <a:endParaRPr lang="en-US" b="0" i="0">
              <a:solidFill>
                <a:srgbClr val="242424"/>
              </a:solidFill>
              <a:highlight>
                <a:srgbClr val="FFFFFF"/>
              </a:highlight>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Excludes: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BDR, </a:t>
            </a:r>
            <a:r>
              <a:rPr lang="en-US" b="0" i="0">
                <a:solidFill>
                  <a:srgbClr val="242424"/>
                </a:solidFill>
                <a:highlight>
                  <a:srgbClr val="FFFFFF"/>
                </a:highlight>
                <a:latin typeface="Arial"/>
                <a:cs typeface="Calibri"/>
              </a:rPr>
              <a:t>Grant </a:t>
            </a:r>
            <a:r>
              <a:rPr lang="en-US">
                <a:solidFill>
                  <a:srgbClr val="242424"/>
                </a:solidFill>
                <a:highlight>
                  <a:srgbClr val="FFFFFF"/>
                </a:highlight>
                <a:latin typeface="Arial"/>
                <a:cs typeface="Calibri"/>
              </a:rPr>
              <a:t>program, Donation</a:t>
            </a:r>
            <a:r>
              <a:rPr lang="en-US" b="0" i="0">
                <a:solidFill>
                  <a:srgbClr val="242424"/>
                </a:solidFill>
                <a:highlight>
                  <a:srgbClr val="FFFFFF"/>
                </a:highlight>
                <a:latin typeface="Arial"/>
                <a:cs typeface="Calibri"/>
              </a:rPr>
              <a:t> program</a:t>
            </a:r>
            <a:r>
              <a:rPr lang="en-US">
                <a:solidFill>
                  <a:srgbClr val="242424"/>
                </a:solidFill>
                <a:highlight>
                  <a:srgbClr val="FFFFFF"/>
                </a:highlight>
                <a:latin typeface="Arial"/>
                <a:cs typeface="Calibri"/>
              </a:rPr>
              <a:t>. PAC doesn't have an AMP.</a:t>
            </a:r>
            <a:endParaRPr lang="en-US" b="0" i="0">
              <a:solidFill>
                <a:srgbClr val="242424"/>
              </a:solidFill>
              <a:highlight>
                <a:srgbClr val="FFFFFF"/>
              </a:highlight>
              <a:latin typeface="Arial"/>
              <a:cs typeface="Calibri"/>
            </a:endParaRPr>
          </a:p>
          <a:p>
            <a:pPr>
              <a:defRPr/>
            </a:pPr>
            <a:endParaRPr lang="en-US" b="1">
              <a:solidFill>
                <a:srgbClr val="242424"/>
              </a:solidFill>
              <a:highlight>
                <a:srgbClr val="FFFFFF"/>
              </a:highlight>
              <a:latin typeface="Arial"/>
              <a:cs typeface="Arial"/>
            </a:endParaRPr>
          </a:p>
          <a:p>
            <a:pPr>
              <a:defRPr/>
            </a:pPr>
            <a:r>
              <a:rPr lang="en-US" b="1">
                <a:solidFill>
                  <a:srgbClr val="242424"/>
                </a:solidFill>
                <a:highlight>
                  <a:srgbClr val="FFFFFF"/>
                </a:highlight>
                <a:latin typeface="Arial"/>
                <a:cs typeface="Arial"/>
              </a:rPr>
              <a:t>Cascade</a:t>
            </a:r>
            <a:endParaRPr lang="en-US">
              <a:solidFill>
                <a:srgbClr val="000000"/>
              </a:solidFill>
              <a:latin typeface="Arial"/>
              <a:cs typeface="Calibri"/>
            </a:endParaRPr>
          </a:p>
          <a:p>
            <a:pPr marL="171450" indent="-171450">
              <a:buFont typeface="Arial"/>
              <a:buChar char="•"/>
              <a:defRPr/>
            </a:pPr>
            <a:r>
              <a:rPr lang="en-US">
                <a:solidFill>
                  <a:srgbClr val="242424"/>
                </a:solidFill>
                <a:highlight>
                  <a:srgbClr val="FFFFFF"/>
                </a:highlight>
                <a:latin typeface="Arial"/>
                <a:cs typeface="Arial"/>
              </a:rPr>
              <a:t>It is unclear which programs Cascade includes/excludes given that all utility bill assistance is reported as one combined sum</a:t>
            </a:r>
            <a:r>
              <a:rPr lang="en-US" b="0" i="0">
                <a:solidFill>
                  <a:srgbClr val="242424"/>
                </a:solidFill>
                <a:highlight>
                  <a:srgbClr val="FFFFFF"/>
                </a:highlight>
                <a:latin typeface="Arial"/>
                <a:cs typeface="Arial"/>
              </a:rPr>
              <a:t>.</a:t>
            </a:r>
            <a:endParaRPr lang="en-US">
              <a:solidFill>
                <a:srgbClr val="242424"/>
              </a:solidFill>
              <a:highlight>
                <a:srgbClr val="FFFFFF"/>
              </a:highlight>
              <a:latin typeface="Arial"/>
              <a:cs typeface="Arial"/>
            </a:endParaRPr>
          </a:p>
          <a:p>
            <a:pPr>
              <a:defRPr/>
            </a:pPr>
            <a:endParaRPr lang="en-US" b="1">
              <a:solidFill>
                <a:srgbClr val="242424"/>
              </a:solidFill>
              <a:highlight>
                <a:srgbClr val="FFFFFF"/>
              </a:highlight>
              <a:latin typeface="Arial"/>
              <a:cs typeface="Arial"/>
            </a:endParaRPr>
          </a:p>
          <a:p>
            <a:pPr>
              <a:defRPr/>
            </a:pPr>
            <a:r>
              <a:rPr lang="en-US" b="1" i="0">
                <a:solidFill>
                  <a:srgbClr val="242424"/>
                </a:solidFill>
                <a:highlight>
                  <a:srgbClr val="FFFFFF"/>
                </a:highlight>
                <a:latin typeface="Arial"/>
                <a:cs typeface="Arial"/>
              </a:rPr>
              <a:t>Northwest Natural</a:t>
            </a:r>
            <a:endParaRPr lang="en-US">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 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GREAT”)</a:t>
            </a:r>
            <a:endParaRPr/>
          </a:p>
          <a:p>
            <a:pPr marL="171450" indent="-171450">
              <a:buFont typeface="Arial"/>
              <a:buChar char="•"/>
              <a:defRPr/>
            </a:pPr>
            <a:r>
              <a:rPr lang="en-US">
                <a:solidFill>
                  <a:srgbClr val="242424"/>
                </a:solidFill>
                <a:highlight>
                  <a:srgbClr val="FFFFFF"/>
                </a:highlight>
                <a:latin typeface="Arial"/>
                <a:cs typeface="Arial"/>
              </a:rPr>
              <a:t>Excludes: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BDR, Donation program. NWN doesn't</a:t>
            </a:r>
            <a:r>
              <a:rPr lang="en-US" b="0" i="0">
                <a:solidFill>
                  <a:srgbClr val="242424"/>
                </a:solidFill>
                <a:highlight>
                  <a:srgbClr val="FFFFFF"/>
                </a:highlight>
                <a:latin typeface="Arial"/>
                <a:cs typeface="Calibri"/>
              </a:rPr>
              <a:t> have an AMP.</a:t>
            </a:r>
            <a:endParaRPr/>
          </a:p>
          <a:p>
            <a:pPr marL="628650" marR="0" lvl="1" indent="-171450" algn="l">
              <a:spcBef>
                <a:spcPts val="0"/>
              </a:spcBef>
              <a:spcAft>
                <a:spcPts val="0"/>
              </a:spcAft>
              <a:buFont typeface="Arial"/>
              <a:buChar char="•"/>
              <a:defRPr/>
            </a:pPr>
            <a:endParaRPr lang="en-US" sz="1100" b="0" i="0">
              <a:solidFill>
                <a:srgbClr val="242424"/>
              </a:solidFill>
              <a:highlight>
                <a:srgbClr val="FFFFFF"/>
              </a:highlight>
              <a:latin typeface="Arial"/>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774545" name="Slide Number Placeholder 1"/>
          <p:cNvSpPr>
            <a:spLocks noGrp="1"/>
          </p:cNvSpPr>
          <p:nvPr>
            <p:ph type="sldNum" sz="quarter" idx="12"/>
          </p:nvPr>
        </p:nvSpPr>
        <p:spPr bwMode="auto"/>
        <p:txBody>
          <a:bodyPr/>
          <a:lstStyle/>
          <a:p>
            <a:pPr>
              <a:defRPr/>
            </a:pPr>
            <a:fld id="{12552600-E312-2D4A-B2EE-ADB5725A2E93}" type="slidenum">
              <a:rPr lang="en-US"/>
              <a:t>22</a:t>
            </a:fld>
            <a:endParaRPr lang="en-US"/>
          </a:p>
        </p:txBody>
      </p:sp>
      <p:sp>
        <p:nvSpPr>
          <p:cNvPr id="63477788" name="TextBox 4"/>
          <p:cNvSpPr txBox="1"/>
          <p:nvPr/>
        </p:nvSpPr>
        <p:spPr bwMode="auto">
          <a:xfrm>
            <a:off x="834186" y="632163"/>
            <a:ext cx="10524742" cy="3739485"/>
          </a:xfrm>
          <a:prstGeom prst="rect">
            <a:avLst/>
          </a:prstGeom>
          <a:noFill/>
        </p:spPr>
        <p:txBody>
          <a:bodyPr wrap="square" lIns="91440" tIns="45720" rIns="91440" bIns="45720" rtlCol="0" anchor="t">
            <a:spAutoFit/>
          </a:bodyPr>
          <a:lstStyle/>
          <a:p>
            <a:pPr algn="ctr">
              <a:defRPr/>
            </a:pPr>
            <a:r>
              <a:rPr lang="en-US" sz="2800">
                <a:latin typeface="Arial"/>
                <a:cs typeface="Arial"/>
              </a:rPr>
              <a:t>Other Notable Findings</a:t>
            </a:r>
            <a:endParaRPr lang="en-US"/>
          </a:p>
          <a:p>
            <a:pPr>
              <a:defRPr/>
            </a:pPr>
            <a:endParaRPr lang="en-US" b="1">
              <a:solidFill>
                <a:srgbClr val="242424"/>
              </a:solidFill>
              <a:highlight>
                <a:srgbClr val="FFFFFF"/>
              </a:highlight>
              <a:latin typeface="Arial"/>
              <a:cs typeface="Arial"/>
            </a:endParaRPr>
          </a:p>
          <a:p>
            <a:pPr marL="285750" indent="-285750">
              <a:buFont typeface="Arial"/>
              <a:buChar char="•"/>
              <a:defRPr/>
            </a:pPr>
            <a:r>
              <a:rPr lang="en-US">
                <a:solidFill>
                  <a:srgbClr val="242424"/>
                </a:solidFill>
                <a:highlight>
                  <a:srgbClr val="FFFFFF"/>
                </a:highlight>
                <a:latin typeface="Arial"/>
                <a:ea typeface="+mn-lt"/>
                <a:cs typeface="+mn-lt"/>
              </a:rPr>
              <a:t>NWN has charged hundreds of dollars of reconnection fees every month since November 2022. They note in their quarterly reports that they will reimburse customers if this happens. Advocates should double check whether NWN reimbursed customers and ask why NWN continues to report this when they aren't supposed to be charging any fees. NWN is the only utility to do this.</a:t>
            </a:r>
            <a:endParaRPr lang="en-US">
              <a:latin typeface="Arial"/>
              <a:cs typeface="Arial"/>
            </a:endParaRPr>
          </a:p>
          <a:p>
            <a:pPr marL="285750" indent="-285750">
              <a:buFont typeface="Arial"/>
              <a:buChar char="•"/>
              <a:defRPr/>
            </a:pPr>
            <a:endParaRPr lang="en-US">
              <a:solidFill>
                <a:srgbClr val="242424"/>
              </a:solidFill>
              <a:highlight>
                <a:srgbClr val="FFFFFF"/>
              </a:highlight>
              <a:latin typeface="Arial"/>
              <a:ea typeface="+mn-lt"/>
              <a:cs typeface="+mn-lt"/>
            </a:endParaRPr>
          </a:p>
          <a:p>
            <a:pPr marL="285750" indent="-285750">
              <a:buFont typeface="Arial"/>
              <a:buChar char="•"/>
              <a:defRPr/>
            </a:pPr>
            <a:r>
              <a:rPr lang="en-US">
                <a:solidFill>
                  <a:srgbClr val="242424"/>
                </a:solidFill>
                <a:highlight>
                  <a:srgbClr val="FFFFFF"/>
                </a:highlight>
                <a:latin typeface="Arial"/>
                <a:ea typeface="+mn-lt"/>
                <a:cs typeface="+mn-lt"/>
              </a:rPr>
              <a:t>Cascade's reported bill assistance enrollments were low since the start of the new BDR and AMP. This doesn't seem to make sense given the higher enrollments Cascade has reported to its Low-Income Advisory Group.</a:t>
            </a:r>
            <a:endParaRPr lang="en-US">
              <a:solidFill>
                <a:srgbClr val="242424"/>
              </a:solidFill>
              <a:highlight>
                <a:srgbClr val="FFFFFF"/>
              </a:highlight>
              <a:latin typeface="Arial"/>
              <a:cs typeface="Calibri"/>
            </a:endParaRPr>
          </a:p>
          <a:p>
            <a:pPr>
              <a:defRPr/>
            </a:pPr>
            <a:endParaRPr lang="en-US" b="1">
              <a:solidFill>
                <a:srgbClr val="242424"/>
              </a:solidFill>
              <a:highlight>
                <a:srgbClr val="FFFFFF"/>
              </a:highlight>
              <a:latin typeface="Arial"/>
              <a:cs typeface="Arial"/>
            </a:endParaRPr>
          </a:p>
          <a:p>
            <a:pPr marL="171450" indent="-171450">
              <a:buFont typeface="Arial"/>
              <a:buChar char="•"/>
              <a:defRPr/>
            </a:pPr>
            <a:endParaRPr lang="en-US" b="0" i="0">
              <a:solidFill>
                <a:srgbClr val="242424"/>
              </a:solidFill>
              <a:highlight>
                <a:srgbClr val="FFFFFF"/>
              </a:highlight>
              <a:latin typeface="Arial"/>
              <a:cs typeface="Calibri"/>
            </a:endParaRPr>
          </a:p>
          <a:p>
            <a:pPr marL="628650" marR="0" lvl="1" indent="-171450" algn="l">
              <a:spcBef>
                <a:spcPts val="0"/>
              </a:spcBef>
              <a:spcAft>
                <a:spcPts val="0"/>
              </a:spcAft>
              <a:buFont typeface="Arial"/>
              <a:buChar char="•"/>
              <a:defRPr/>
            </a:pPr>
            <a:endParaRPr lang="en-US" sz="1100" b="0" i="0">
              <a:solidFill>
                <a:srgbClr val="242424"/>
              </a:solidFill>
              <a:highlight>
                <a:srgbClr val="FFFFFF"/>
              </a:highlight>
              <a:latin typeface="Arial"/>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ONLYOFFICE/9.2.0.100</Application>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Arrearage &amp; Disconnection Analysis  March 2020 – March 2023</dc:title>
  <dc:creator>Charlee Thompson</dc:creator>
  <cp:lastModifiedBy/>
  <cp:revision>336</cp:revision>
  <dcterms:created xsi:type="dcterms:W3CDTF">2023-06-16T21:33:47Z</dcterms:created>
  <dcterms:modified xsi:type="dcterms:W3CDTF">2025-12-17T16:40:02Z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0x01010000192DA4D3C2484DBD3CB2E79260946C</vt:lpwstr>
  </property>
  <property fmtid="{D5CDD505-2E9C-101B-9397-08002B2CF9AE}" pid="3" name="MediaServiceImageTags">
    <vt:lpwstr/>
  </property>
</Properties>
</file>